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Liter" charset="-122" pitchFamily="34"/>
      <p:regular r:id="rId16"/>
    </p:embeddedFont>
    <p:embeddedFont>
      <p:font typeface="Quattrocento 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fa796013d6e206054bee00c4bcdd25d66e430c7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DB6A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4350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TALENTS HACKATHON 2026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423797" y="473075"/>
            <a:ext cx="958850" cy="273050"/>
          </a:xfrm>
          <a:custGeom>
            <a:avLst/>
            <a:gdLst/>
            <a:ahLst/>
            <a:cxnLst/>
            <a:rect l="l" t="t" r="r" b="b"/>
            <a:pathLst>
              <a:path w="958850" h="273050">
                <a:moveTo>
                  <a:pt x="0" y="0"/>
                </a:moveTo>
                <a:lnTo>
                  <a:pt x="958850" y="0"/>
                </a:lnTo>
                <a:lnTo>
                  <a:pt x="958850" y="273050"/>
                </a:lnTo>
                <a:lnTo>
                  <a:pt x="0" y="2730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20622" y="469900"/>
            <a:ext cx="1009650" cy="2667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461526" y="473075"/>
            <a:ext cx="1349375" cy="273050"/>
          </a:xfrm>
          <a:custGeom>
            <a:avLst/>
            <a:gdLst/>
            <a:ahLst/>
            <a:cxnLst/>
            <a:rect l="l" t="t" r="r" b="b"/>
            <a:pathLst>
              <a:path w="1349375" h="273050">
                <a:moveTo>
                  <a:pt x="0" y="0"/>
                </a:moveTo>
                <a:lnTo>
                  <a:pt x="1349375" y="0"/>
                </a:lnTo>
                <a:lnTo>
                  <a:pt x="1349375" y="273050"/>
                </a:lnTo>
                <a:lnTo>
                  <a:pt x="0" y="273050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20000"/>
            </a:srgbClr>
          </a:solidFill>
          <a:ln w="8467">
            <a:solidFill>
              <a:srgbClr val="A5D6A7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58351" y="469900"/>
            <a:ext cx="1400175" cy="2667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 К ПИЛОТУ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20383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Shape 8"/>
          <p:cNvSpPr/>
          <p:nvPr/>
        </p:nvSpPr>
        <p:spPr>
          <a:xfrm>
            <a:off x="590550" y="22479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1733550"/>
            <a:ext cx="38671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KIMAK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724150"/>
            <a:ext cx="3581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City Almaty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1000" y="340995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2"/>
          <p:cNvSpPr/>
          <p:nvPr/>
        </p:nvSpPr>
        <p:spPr>
          <a:xfrm>
            <a:off x="381000" y="3752850"/>
            <a:ext cx="523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AI-Платформа Городского Интеллекта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424815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 Данных к Действию за 5 Секунд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1000" y="4895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41238" y="49720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52500" y="49911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Доменов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044700" y="4895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203053" y="4972050"/>
            <a:ext cx="257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616200" y="4991100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Районов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54921" y="4895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837781" y="4972050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226421" y="499110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Дашборд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81000" y="6248400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Команда KIMAK | Алматы, Казахстан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445478" y="62484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1363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spc="307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31902"/>
            <a:ext cx="11671610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12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Городской Кризис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1707" y="1152293"/>
            <a:ext cx="1154151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Три реальных сценария показывают, что данные существуют повсюду, но решения принимаются слишком поздно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293" y="1598341"/>
            <a:ext cx="3670610" cy="3986561"/>
          </a:xfrm>
          <a:custGeom>
            <a:avLst/>
            <a:gdLst/>
            <a:ahLst/>
            <a:cxnLst/>
            <a:rect l="l" t="t" r="r" b="b"/>
            <a:pathLst>
              <a:path w="3670610" h="3986561">
                <a:moveTo>
                  <a:pt x="0" y="0"/>
                </a:moveTo>
                <a:lnTo>
                  <a:pt x="3670610" y="0"/>
                </a:lnTo>
                <a:lnTo>
                  <a:pt x="3670610" y="3986561"/>
                </a:lnTo>
                <a:lnTo>
                  <a:pt x="0" y="3986561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0293" y="1598341"/>
            <a:ext cx="37171" cy="3986561"/>
          </a:xfrm>
          <a:custGeom>
            <a:avLst/>
            <a:gdLst/>
            <a:ahLst/>
            <a:cxnLst/>
            <a:rect l="l" t="t" r="r" b="b"/>
            <a:pathLst>
              <a:path w="37171" h="3986561">
                <a:moveTo>
                  <a:pt x="0" y="0"/>
                </a:moveTo>
                <a:lnTo>
                  <a:pt x="37171" y="0"/>
                </a:lnTo>
                <a:lnTo>
                  <a:pt x="37171" y="3986561"/>
                </a:lnTo>
                <a:lnTo>
                  <a:pt x="0" y="3986561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594732" y="1784195"/>
            <a:ext cx="446049" cy="446049"/>
          </a:xfrm>
          <a:custGeom>
            <a:avLst/>
            <a:gdLst/>
            <a:ahLst/>
            <a:cxnLst/>
            <a:rect l="l" t="t" r="r" b="b"/>
            <a:pathLst>
              <a:path w="446049" h="446049">
                <a:moveTo>
                  <a:pt x="0" y="0"/>
                </a:moveTo>
                <a:lnTo>
                  <a:pt x="446049" y="0"/>
                </a:lnTo>
                <a:lnTo>
                  <a:pt x="446049" y="446049"/>
                </a:lnTo>
                <a:lnTo>
                  <a:pt x="0" y="446049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6"/>
          <p:cNvSpPr/>
          <p:nvPr/>
        </p:nvSpPr>
        <p:spPr>
          <a:xfrm>
            <a:off x="724829" y="1914293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93108" y="0"/>
                </a:moveTo>
                <a:cubicBezTo>
                  <a:pt x="98444" y="0"/>
                  <a:pt x="103345" y="2940"/>
                  <a:pt x="105886" y="7623"/>
                </a:cubicBezTo>
                <a:lnTo>
                  <a:pt x="184293" y="152821"/>
                </a:lnTo>
                <a:cubicBezTo>
                  <a:pt x="186725" y="157322"/>
                  <a:pt x="186616" y="162767"/>
                  <a:pt x="184002" y="167159"/>
                </a:cubicBezTo>
                <a:cubicBezTo>
                  <a:pt x="181389" y="171552"/>
                  <a:pt x="176634" y="174238"/>
                  <a:pt x="171552" y="174238"/>
                </a:cubicBezTo>
                <a:lnTo>
                  <a:pt x="14738" y="174238"/>
                </a:lnTo>
                <a:cubicBezTo>
                  <a:pt x="9619" y="174238"/>
                  <a:pt x="4900" y="171552"/>
                  <a:pt x="2287" y="167159"/>
                </a:cubicBezTo>
                <a:cubicBezTo>
                  <a:pt x="-327" y="162767"/>
                  <a:pt x="-436" y="157322"/>
                  <a:pt x="1996" y="152821"/>
                </a:cubicBezTo>
                <a:lnTo>
                  <a:pt x="80403" y="7623"/>
                </a:lnTo>
                <a:lnTo>
                  <a:pt x="81456" y="5953"/>
                </a:lnTo>
                <a:cubicBezTo>
                  <a:pt x="84106" y="2251"/>
                  <a:pt x="88426" y="0"/>
                  <a:pt x="93108" y="0"/>
                </a:cubicBezTo>
                <a:close/>
                <a:moveTo>
                  <a:pt x="61854" y="90713"/>
                </a:moveTo>
                <a:lnTo>
                  <a:pt x="71583" y="100441"/>
                </a:lnTo>
                <a:cubicBezTo>
                  <a:pt x="73833" y="102691"/>
                  <a:pt x="77536" y="102691"/>
                  <a:pt x="79786" y="100441"/>
                </a:cubicBezTo>
                <a:lnTo>
                  <a:pt x="95504" y="84723"/>
                </a:lnTo>
                <a:cubicBezTo>
                  <a:pt x="97682" y="82545"/>
                  <a:pt x="100622" y="81311"/>
                  <a:pt x="103708" y="81311"/>
                </a:cubicBezTo>
                <a:lnTo>
                  <a:pt x="119244" y="81311"/>
                </a:lnTo>
                <a:lnTo>
                  <a:pt x="93072" y="32851"/>
                </a:lnTo>
                <a:lnTo>
                  <a:pt x="61818" y="9071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152293" y="1802780"/>
            <a:ext cx="985024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spc="44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Туризм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293" y="1951463"/>
            <a:ext cx="1022195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Шымбулак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732" y="2378927"/>
            <a:ext cx="3280317" cy="966439"/>
          </a:xfrm>
          <a:custGeom>
            <a:avLst/>
            <a:gdLst/>
            <a:ahLst/>
            <a:cxnLst/>
            <a:rect l="l" t="t" r="r" b="b"/>
            <a:pathLst>
              <a:path w="3280317" h="966439">
                <a:moveTo>
                  <a:pt x="0" y="0"/>
                </a:moveTo>
                <a:lnTo>
                  <a:pt x="3280317" y="0"/>
                </a:lnTo>
                <a:lnTo>
                  <a:pt x="3280317" y="966439"/>
                </a:lnTo>
                <a:lnTo>
                  <a:pt x="0" y="96643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43415" y="2527610"/>
            <a:ext cx="1208049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15,000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61537" y="2663903"/>
            <a:ext cx="62261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человек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3415" y="2973659"/>
            <a:ext cx="305729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ждут в очереди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732" y="3456878"/>
            <a:ext cx="3280317" cy="966439"/>
          </a:xfrm>
          <a:custGeom>
            <a:avLst/>
            <a:gdLst/>
            <a:ahLst/>
            <a:cxnLst/>
            <a:rect l="l" t="t" r="r" b="b"/>
            <a:pathLst>
              <a:path w="3280317" h="966439">
                <a:moveTo>
                  <a:pt x="0" y="0"/>
                </a:moveTo>
                <a:lnTo>
                  <a:pt x="3280317" y="0"/>
                </a:lnTo>
                <a:lnTo>
                  <a:pt x="3280317" y="966439"/>
                </a:lnTo>
                <a:lnTo>
                  <a:pt x="0" y="96643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3415" y="3605561"/>
            <a:ext cx="362415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2128" y="3741854"/>
            <a:ext cx="38100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часа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3415" y="4051610"/>
            <a:ext cx="305729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очереди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732" y="4575098"/>
            <a:ext cx="3280317" cy="6195"/>
          </a:xfrm>
          <a:custGeom>
            <a:avLst/>
            <a:gdLst/>
            <a:ahLst/>
            <a:cxnLst/>
            <a:rect l="l" t="t" r="r" b="b"/>
            <a:pathLst>
              <a:path w="3280317" h="6195">
                <a:moveTo>
                  <a:pt x="0" y="0"/>
                </a:moveTo>
                <a:lnTo>
                  <a:pt x="3280317" y="0"/>
                </a:lnTo>
                <a:lnTo>
                  <a:pt x="3280317" y="6195"/>
                </a:lnTo>
                <a:lnTo>
                  <a:pt x="0" y="619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4732" y="4726879"/>
            <a:ext cx="3354659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Обнаружение:</a:t>
            </a:r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Через жалобы в Telegram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732" y="5024245"/>
            <a:ext cx="3345366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Влияние: Недовольные туристы, потеря выручки, риски безопасности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68439" y="1598341"/>
            <a:ext cx="3670610" cy="3986561"/>
          </a:xfrm>
          <a:custGeom>
            <a:avLst/>
            <a:gdLst/>
            <a:ahLst/>
            <a:cxnLst/>
            <a:rect l="l" t="t" r="r" b="b"/>
            <a:pathLst>
              <a:path w="3670610" h="3986561">
                <a:moveTo>
                  <a:pt x="0" y="0"/>
                </a:moveTo>
                <a:lnTo>
                  <a:pt x="3670610" y="0"/>
                </a:lnTo>
                <a:lnTo>
                  <a:pt x="3670610" y="3986561"/>
                </a:lnTo>
                <a:lnTo>
                  <a:pt x="0" y="3986561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268439" y="1598341"/>
            <a:ext cx="37171" cy="3986561"/>
          </a:xfrm>
          <a:custGeom>
            <a:avLst/>
            <a:gdLst/>
            <a:ahLst/>
            <a:cxnLst/>
            <a:rect l="l" t="t" r="r" b="b"/>
            <a:pathLst>
              <a:path w="37171" h="3986561">
                <a:moveTo>
                  <a:pt x="0" y="0"/>
                </a:moveTo>
                <a:lnTo>
                  <a:pt x="37171" y="0"/>
                </a:lnTo>
                <a:lnTo>
                  <a:pt x="37171" y="3986561"/>
                </a:lnTo>
                <a:lnTo>
                  <a:pt x="0" y="3986561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24" name="Shape 22"/>
          <p:cNvSpPr/>
          <p:nvPr/>
        </p:nvSpPr>
        <p:spPr>
          <a:xfrm>
            <a:off x="4472878" y="1784195"/>
            <a:ext cx="446049" cy="446049"/>
          </a:xfrm>
          <a:custGeom>
            <a:avLst/>
            <a:gdLst/>
            <a:ahLst/>
            <a:cxnLst/>
            <a:rect l="l" t="t" r="r" b="b"/>
            <a:pathLst>
              <a:path w="446049" h="446049">
                <a:moveTo>
                  <a:pt x="0" y="0"/>
                </a:moveTo>
                <a:lnTo>
                  <a:pt x="446049" y="0"/>
                </a:lnTo>
                <a:lnTo>
                  <a:pt x="446049" y="446049"/>
                </a:lnTo>
                <a:lnTo>
                  <a:pt x="0" y="446049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25" name="Shape 23"/>
          <p:cNvSpPr/>
          <p:nvPr/>
        </p:nvSpPr>
        <p:spPr>
          <a:xfrm>
            <a:off x="4602976" y="1914293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149046" y="45048"/>
                </a:moveTo>
                <a:cubicBezTo>
                  <a:pt x="156560" y="50710"/>
                  <a:pt x="165744" y="56192"/>
                  <a:pt x="175980" y="57571"/>
                </a:cubicBezTo>
                <a:cubicBezTo>
                  <a:pt x="180735" y="58224"/>
                  <a:pt x="185128" y="54849"/>
                  <a:pt x="185781" y="50093"/>
                </a:cubicBezTo>
                <a:cubicBezTo>
                  <a:pt x="186434" y="45338"/>
                  <a:pt x="183059" y="40946"/>
                  <a:pt x="178303" y="40292"/>
                </a:cubicBezTo>
                <a:cubicBezTo>
                  <a:pt x="172532" y="39530"/>
                  <a:pt x="166252" y="36191"/>
                  <a:pt x="159536" y="31145"/>
                </a:cubicBezTo>
                <a:cubicBezTo>
                  <a:pt x="145597" y="20618"/>
                  <a:pt x="126685" y="20618"/>
                  <a:pt x="112710" y="31145"/>
                </a:cubicBezTo>
                <a:cubicBezTo>
                  <a:pt x="103998" y="37715"/>
                  <a:pt x="97936" y="40692"/>
                  <a:pt x="92927" y="40692"/>
                </a:cubicBezTo>
                <a:cubicBezTo>
                  <a:pt x="87917" y="40692"/>
                  <a:pt x="81855" y="37715"/>
                  <a:pt x="73144" y="31145"/>
                </a:cubicBezTo>
                <a:cubicBezTo>
                  <a:pt x="59205" y="20618"/>
                  <a:pt x="40292" y="20618"/>
                  <a:pt x="26317" y="31145"/>
                </a:cubicBezTo>
                <a:cubicBezTo>
                  <a:pt x="19602" y="36191"/>
                  <a:pt x="13322" y="39530"/>
                  <a:pt x="7550" y="40292"/>
                </a:cubicBezTo>
                <a:cubicBezTo>
                  <a:pt x="2795" y="40946"/>
                  <a:pt x="-581" y="45302"/>
                  <a:pt x="73" y="50093"/>
                </a:cubicBezTo>
                <a:cubicBezTo>
                  <a:pt x="726" y="54885"/>
                  <a:pt x="5082" y="58224"/>
                  <a:pt x="9873" y="57571"/>
                </a:cubicBezTo>
                <a:cubicBezTo>
                  <a:pt x="20110" y="56192"/>
                  <a:pt x="29330" y="50710"/>
                  <a:pt x="36808" y="45048"/>
                </a:cubicBezTo>
                <a:cubicBezTo>
                  <a:pt x="44540" y="39204"/>
                  <a:pt x="54921" y="39204"/>
                  <a:pt x="62653" y="45048"/>
                </a:cubicBezTo>
                <a:cubicBezTo>
                  <a:pt x="71438" y="51691"/>
                  <a:pt x="81638" y="58079"/>
                  <a:pt x="92927" y="58079"/>
                </a:cubicBezTo>
                <a:cubicBezTo>
                  <a:pt x="104216" y="58079"/>
                  <a:pt x="114380" y="51654"/>
                  <a:pt x="123201" y="45048"/>
                </a:cubicBezTo>
                <a:cubicBezTo>
                  <a:pt x="130932" y="39204"/>
                  <a:pt x="141314" y="39204"/>
                  <a:pt x="149046" y="45048"/>
                </a:cubicBezTo>
                <a:close/>
                <a:moveTo>
                  <a:pt x="149046" y="97319"/>
                </a:moveTo>
                <a:cubicBezTo>
                  <a:pt x="156560" y="102982"/>
                  <a:pt x="165744" y="108463"/>
                  <a:pt x="175980" y="109842"/>
                </a:cubicBezTo>
                <a:cubicBezTo>
                  <a:pt x="180735" y="110496"/>
                  <a:pt x="185128" y="107120"/>
                  <a:pt x="185781" y="102365"/>
                </a:cubicBezTo>
                <a:cubicBezTo>
                  <a:pt x="186434" y="97609"/>
                  <a:pt x="183059" y="93217"/>
                  <a:pt x="178303" y="92564"/>
                </a:cubicBezTo>
                <a:cubicBezTo>
                  <a:pt x="172532" y="91802"/>
                  <a:pt x="166252" y="88462"/>
                  <a:pt x="159536" y="83416"/>
                </a:cubicBezTo>
                <a:cubicBezTo>
                  <a:pt x="145597" y="72889"/>
                  <a:pt x="126685" y="72889"/>
                  <a:pt x="112710" y="83416"/>
                </a:cubicBezTo>
                <a:cubicBezTo>
                  <a:pt x="103998" y="89987"/>
                  <a:pt x="97936" y="92963"/>
                  <a:pt x="92927" y="92963"/>
                </a:cubicBezTo>
                <a:cubicBezTo>
                  <a:pt x="87917" y="92963"/>
                  <a:pt x="81855" y="89987"/>
                  <a:pt x="73144" y="83416"/>
                </a:cubicBezTo>
                <a:cubicBezTo>
                  <a:pt x="59205" y="72889"/>
                  <a:pt x="40292" y="72889"/>
                  <a:pt x="26317" y="83416"/>
                </a:cubicBezTo>
                <a:cubicBezTo>
                  <a:pt x="19602" y="88462"/>
                  <a:pt x="13322" y="91802"/>
                  <a:pt x="7550" y="92564"/>
                </a:cubicBezTo>
                <a:cubicBezTo>
                  <a:pt x="2795" y="93181"/>
                  <a:pt x="-581" y="97573"/>
                  <a:pt x="73" y="102365"/>
                </a:cubicBezTo>
                <a:cubicBezTo>
                  <a:pt x="726" y="107156"/>
                  <a:pt x="5082" y="110496"/>
                  <a:pt x="9873" y="109842"/>
                </a:cubicBezTo>
                <a:cubicBezTo>
                  <a:pt x="20110" y="108463"/>
                  <a:pt x="29330" y="102982"/>
                  <a:pt x="36808" y="97319"/>
                </a:cubicBezTo>
                <a:cubicBezTo>
                  <a:pt x="44540" y="91475"/>
                  <a:pt x="54921" y="91475"/>
                  <a:pt x="62653" y="97319"/>
                </a:cubicBezTo>
                <a:cubicBezTo>
                  <a:pt x="71438" y="103962"/>
                  <a:pt x="81638" y="110351"/>
                  <a:pt x="92927" y="110351"/>
                </a:cubicBezTo>
                <a:cubicBezTo>
                  <a:pt x="104216" y="110351"/>
                  <a:pt x="114380" y="103926"/>
                  <a:pt x="123201" y="97319"/>
                </a:cubicBezTo>
                <a:cubicBezTo>
                  <a:pt x="130932" y="91475"/>
                  <a:pt x="141314" y="91475"/>
                  <a:pt x="149046" y="97319"/>
                </a:cubicBezTo>
                <a:close/>
                <a:moveTo>
                  <a:pt x="123201" y="149590"/>
                </a:moveTo>
                <a:cubicBezTo>
                  <a:pt x="130932" y="143746"/>
                  <a:pt x="141314" y="143746"/>
                  <a:pt x="149046" y="149590"/>
                </a:cubicBezTo>
                <a:cubicBezTo>
                  <a:pt x="156560" y="155253"/>
                  <a:pt x="165744" y="160734"/>
                  <a:pt x="175980" y="162114"/>
                </a:cubicBezTo>
                <a:cubicBezTo>
                  <a:pt x="180735" y="162767"/>
                  <a:pt x="185128" y="159391"/>
                  <a:pt x="185781" y="154636"/>
                </a:cubicBezTo>
                <a:cubicBezTo>
                  <a:pt x="186434" y="149881"/>
                  <a:pt x="183059" y="145489"/>
                  <a:pt x="178303" y="144835"/>
                </a:cubicBezTo>
                <a:cubicBezTo>
                  <a:pt x="172532" y="144073"/>
                  <a:pt x="166252" y="140733"/>
                  <a:pt x="159536" y="135688"/>
                </a:cubicBezTo>
                <a:cubicBezTo>
                  <a:pt x="145597" y="125161"/>
                  <a:pt x="126685" y="125161"/>
                  <a:pt x="112710" y="135688"/>
                </a:cubicBezTo>
                <a:cubicBezTo>
                  <a:pt x="103998" y="142258"/>
                  <a:pt x="97936" y="145234"/>
                  <a:pt x="92927" y="145234"/>
                </a:cubicBezTo>
                <a:cubicBezTo>
                  <a:pt x="87917" y="145234"/>
                  <a:pt x="81855" y="142258"/>
                  <a:pt x="73144" y="135688"/>
                </a:cubicBezTo>
                <a:cubicBezTo>
                  <a:pt x="59205" y="125161"/>
                  <a:pt x="40292" y="125161"/>
                  <a:pt x="26317" y="135688"/>
                </a:cubicBezTo>
                <a:cubicBezTo>
                  <a:pt x="19602" y="140733"/>
                  <a:pt x="13322" y="144073"/>
                  <a:pt x="7550" y="144835"/>
                </a:cubicBezTo>
                <a:cubicBezTo>
                  <a:pt x="2795" y="145489"/>
                  <a:pt x="-581" y="149845"/>
                  <a:pt x="73" y="154636"/>
                </a:cubicBezTo>
                <a:cubicBezTo>
                  <a:pt x="726" y="159428"/>
                  <a:pt x="5082" y="162767"/>
                  <a:pt x="9873" y="162114"/>
                </a:cubicBezTo>
                <a:cubicBezTo>
                  <a:pt x="20110" y="160734"/>
                  <a:pt x="29330" y="155253"/>
                  <a:pt x="36808" y="149590"/>
                </a:cubicBezTo>
                <a:cubicBezTo>
                  <a:pt x="44540" y="143746"/>
                  <a:pt x="54921" y="143746"/>
                  <a:pt x="62653" y="149590"/>
                </a:cubicBezTo>
                <a:cubicBezTo>
                  <a:pt x="71438" y="156233"/>
                  <a:pt x="81638" y="162622"/>
                  <a:pt x="92927" y="162622"/>
                </a:cubicBezTo>
                <a:cubicBezTo>
                  <a:pt x="104216" y="162622"/>
                  <a:pt x="114380" y="156197"/>
                  <a:pt x="123201" y="14959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5030439" y="1802780"/>
            <a:ext cx="1263805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spc="44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Коммунальные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30439" y="1951463"/>
            <a:ext cx="1300976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Разрыв Трубы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72878" y="2378927"/>
            <a:ext cx="3280317" cy="966439"/>
          </a:xfrm>
          <a:custGeom>
            <a:avLst/>
            <a:gdLst/>
            <a:ahLst/>
            <a:cxnLst/>
            <a:rect l="l" t="t" r="r" b="b"/>
            <a:pathLst>
              <a:path w="3280317" h="966439">
                <a:moveTo>
                  <a:pt x="0" y="0"/>
                </a:moveTo>
                <a:lnTo>
                  <a:pt x="3280317" y="0"/>
                </a:lnTo>
                <a:lnTo>
                  <a:pt x="3280317" y="966439"/>
                </a:lnTo>
                <a:lnTo>
                  <a:pt x="0" y="96643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21561" y="2527610"/>
            <a:ext cx="557561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85711" y="2663903"/>
            <a:ext cx="343829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мин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21561" y="2973659"/>
            <a:ext cx="305729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задержка обнаружения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72878" y="3456878"/>
            <a:ext cx="3280317" cy="966439"/>
          </a:xfrm>
          <a:custGeom>
            <a:avLst/>
            <a:gdLst/>
            <a:ahLst/>
            <a:cxnLst/>
            <a:rect l="l" t="t" r="r" b="b"/>
            <a:pathLst>
              <a:path w="3280317" h="966439">
                <a:moveTo>
                  <a:pt x="0" y="0"/>
                </a:moveTo>
                <a:lnTo>
                  <a:pt x="3280317" y="0"/>
                </a:lnTo>
                <a:lnTo>
                  <a:pt x="3280317" y="966439"/>
                </a:lnTo>
                <a:lnTo>
                  <a:pt x="0" y="96643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621561" y="3605561"/>
            <a:ext cx="1198756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12,400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24970" y="3741854"/>
            <a:ext cx="62261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квартир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21561" y="4051610"/>
            <a:ext cx="305729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пострадало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72878" y="4575098"/>
            <a:ext cx="3280317" cy="6195"/>
          </a:xfrm>
          <a:custGeom>
            <a:avLst/>
            <a:gdLst/>
            <a:ahLst/>
            <a:cxnLst/>
            <a:rect l="l" t="t" r="r" b="b"/>
            <a:pathLst>
              <a:path w="3280317" h="6195">
                <a:moveTo>
                  <a:pt x="0" y="0"/>
                </a:moveTo>
                <a:lnTo>
                  <a:pt x="3280317" y="0"/>
                </a:lnTo>
                <a:lnTo>
                  <a:pt x="3280317" y="6195"/>
                </a:lnTo>
                <a:lnTo>
                  <a:pt x="0" y="619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472878" y="4726879"/>
            <a:ext cx="3354659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Последствия:</a:t>
            </a:r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Затопление, аварийный хаос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72878" y="5024245"/>
            <a:ext cx="3345366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Влияние: Материальный ущерб, перебои в водоснабжении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46586" y="1598341"/>
            <a:ext cx="3670610" cy="3986561"/>
          </a:xfrm>
          <a:custGeom>
            <a:avLst/>
            <a:gdLst/>
            <a:ahLst/>
            <a:cxnLst/>
            <a:rect l="l" t="t" r="r" b="b"/>
            <a:pathLst>
              <a:path w="3670610" h="3986561">
                <a:moveTo>
                  <a:pt x="0" y="0"/>
                </a:moveTo>
                <a:lnTo>
                  <a:pt x="3670610" y="0"/>
                </a:lnTo>
                <a:lnTo>
                  <a:pt x="3670610" y="3986561"/>
                </a:lnTo>
                <a:lnTo>
                  <a:pt x="0" y="3986561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46586" y="1598341"/>
            <a:ext cx="37171" cy="3986561"/>
          </a:xfrm>
          <a:custGeom>
            <a:avLst/>
            <a:gdLst/>
            <a:ahLst/>
            <a:cxnLst/>
            <a:rect l="l" t="t" r="r" b="b"/>
            <a:pathLst>
              <a:path w="37171" h="3986561">
                <a:moveTo>
                  <a:pt x="0" y="0"/>
                </a:moveTo>
                <a:lnTo>
                  <a:pt x="37171" y="0"/>
                </a:lnTo>
                <a:lnTo>
                  <a:pt x="37171" y="3986561"/>
                </a:lnTo>
                <a:lnTo>
                  <a:pt x="0" y="3986561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1" name="Shape 39"/>
          <p:cNvSpPr/>
          <p:nvPr/>
        </p:nvSpPr>
        <p:spPr>
          <a:xfrm>
            <a:off x="8351025" y="1784195"/>
            <a:ext cx="446049" cy="446049"/>
          </a:xfrm>
          <a:custGeom>
            <a:avLst/>
            <a:gdLst/>
            <a:ahLst/>
            <a:cxnLst/>
            <a:rect l="l" t="t" r="r" b="b"/>
            <a:pathLst>
              <a:path w="446049" h="446049">
                <a:moveTo>
                  <a:pt x="0" y="0"/>
                </a:moveTo>
                <a:lnTo>
                  <a:pt x="446049" y="0"/>
                </a:lnTo>
                <a:lnTo>
                  <a:pt x="446049" y="446049"/>
                </a:lnTo>
                <a:lnTo>
                  <a:pt x="0" y="446049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2" name="Shape 40"/>
          <p:cNvSpPr/>
          <p:nvPr/>
        </p:nvSpPr>
        <p:spPr>
          <a:xfrm>
            <a:off x="8492738" y="1914293"/>
            <a:ext cx="162622" cy="185854"/>
          </a:xfrm>
          <a:custGeom>
            <a:avLst/>
            <a:gdLst/>
            <a:ahLst/>
            <a:cxnLst/>
            <a:rect l="l" t="t" r="r" b="b"/>
            <a:pathLst>
              <a:path w="162622" h="185854">
                <a:moveTo>
                  <a:pt x="122983" y="-3594"/>
                </a:moveTo>
                <a:cubicBezTo>
                  <a:pt x="127302" y="-472"/>
                  <a:pt x="128900" y="5191"/>
                  <a:pt x="126940" y="10128"/>
                </a:cubicBezTo>
                <a:lnTo>
                  <a:pt x="98481" y="81311"/>
                </a:lnTo>
                <a:lnTo>
                  <a:pt x="151006" y="81311"/>
                </a:lnTo>
                <a:cubicBezTo>
                  <a:pt x="155907" y="81311"/>
                  <a:pt x="160262" y="84360"/>
                  <a:pt x="161932" y="88970"/>
                </a:cubicBezTo>
                <a:cubicBezTo>
                  <a:pt x="163602" y="93580"/>
                  <a:pt x="162186" y="98735"/>
                  <a:pt x="158448" y="101857"/>
                </a:cubicBezTo>
                <a:lnTo>
                  <a:pt x="53905" y="188975"/>
                </a:lnTo>
                <a:cubicBezTo>
                  <a:pt x="49803" y="192388"/>
                  <a:pt x="43959" y="192569"/>
                  <a:pt x="39639" y="189447"/>
                </a:cubicBezTo>
                <a:cubicBezTo>
                  <a:pt x="35319" y="186326"/>
                  <a:pt x="33722" y="180663"/>
                  <a:pt x="35682" y="175726"/>
                </a:cubicBezTo>
                <a:lnTo>
                  <a:pt x="64141" y="104543"/>
                </a:lnTo>
                <a:lnTo>
                  <a:pt x="11616" y="104543"/>
                </a:lnTo>
                <a:cubicBezTo>
                  <a:pt x="6715" y="104543"/>
                  <a:pt x="2359" y="101494"/>
                  <a:pt x="690" y="96883"/>
                </a:cubicBezTo>
                <a:cubicBezTo>
                  <a:pt x="-980" y="92273"/>
                  <a:pt x="436" y="87119"/>
                  <a:pt x="4174" y="83997"/>
                </a:cubicBezTo>
                <a:lnTo>
                  <a:pt x="108717" y="-3122"/>
                </a:lnTo>
                <a:cubicBezTo>
                  <a:pt x="112819" y="-6534"/>
                  <a:pt x="118663" y="-6715"/>
                  <a:pt x="122983" y="-3594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43" name="Text 41"/>
          <p:cNvSpPr/>
          <p:nvPr/>
        </p:nvSpPr>
        <p:spPr>
          <a:xfrm>
            <a:off x="8908586" y="1802780"/>
            <a:ext cx="1514707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spc="44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Энергетика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08586" y="1951463"/>
            <a:ext cx="1551878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Перегрузка Сети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51025" y="2378927"/>
            <a:ext cx="3280317" cy="966439"/>
          </a:xfrm>
          <a:custGeom>
            <a:avLst/>
            <a:gdLst/>
            <a:ahLst/>
            <a:cxnLst/>
            <a:rect l="l" t="t" r="r" b="b"/>
            <a:pathLst>
              <a:path w="3280317" h="966439">
                <a:moveTo>
                  <a:pt x="0" y="0"/>
                </a:moveTo>
                <a:lnTo>
                  <a:pt x="3280317" y="0"/>
                </a:lnTo>
                <a:lnTo>
                  <a:pt x="3280317" y="966439"/>
                </a:lnTo>
                <a:lnTo>
                  <a:pt x="0" y="96643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99708" y="2527610"/>
            <a:ext cx="362415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71518" y="2663903"/>
            <a:ext cx="557561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района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99708" y="2973659"/>
            <a:ext cx="305729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отключение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51025" y="3456878"/>
            <a:ext cx="3280317" cy="966439"/>
          </a:xfrm>
          <a:custGeom>
            <a:avLst/>
            <a:gdLst/>
            <a:ahLst/>
            <a:cxnLst/>
            <a:rect l="l" t="t" r="r" b="b"/>
            <a:pathLst>
              <a:path w="3280317" h="966439">
                <a:moveTo>
                  <a:pt x="0" y="0"/>
                </a:moveTo>
                <a:lnTo>
                  <a:pt x="3280317" y="0"/>
                </a:lnTo>
                <a:lnTo>
                  <a:pt x="3280317" y="966439"/>
                </a:lnTo>
                <a:lnTo>
                  <a:pt x="0" y="96643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499708" y="3605561"/>
            <a:ext cx="1291683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48,000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93818" y="3741854"/>
            <a:ext cx="65978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жителей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99708" y="4051610"/>
            <a:ext cx="305729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 света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51025" y="4575098"/>
            <a:ext cx="3280317" cy="6195"/>
          </a:xfrm>
          <a:custGeom>
            <a:avLst/>
            <a:gdLst/>
            <a:ahLst/>
            <a:cxnLst/>
            <a:rect l="l" t="t" r="r" b="b"/>
            <a:pathLst>
              <a:path w="3280317" h="6195">
                <a:moveTo>
                  <a:pt x="0" y="0"/>
                </a:moveTo>
                <a:lnTo>
                  <a:pt x="3280317" y="0"/>
                </a:lnTo>
                <a:lnTo>
                  <a:pt x="3280317" y="6195"/>
                </a:lnTo>
                <a:lnTo>
                  <a:pt x="0" y="619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351025" y="4726879"/>
            <a:ext cx="3354659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Причина:</a:t>
            </a:r>
            <a:pPr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Пиковая нагрузка непредсказуема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51025" y="5024245"/>
            <a:ext cx="3345366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Влияние: Резерв больниц под угрозой, экономические потери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74805" y="5770757"/>
            <a:ext cx="11445488" cy="1084146"/>
          </a:xfrm>
          <a:custGeom>
            <a:avLst/>
            <a:gdLst/>
            <a:ahLst/>
            <a:cxnLst/>
            <a:rect l="l" t="t" r="r" b="b"/>
            <a:pathLst>
              <a:path w="11445488" h="1084146">
                <a:moveTo>
                  <a:pt x="0" y="0"/>
                </a:moveTo>
                <a:lnTo>
                  <a:pt x="11445488" y="0"/>
                </a:lnTo>
                <a:lnTo>
                  <a:pt x="11445488" y="1084146"/>
                </a:lnTo>
                <a:lnTo>
                  <a:pt x="0" y="1084146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244" y="5959708"/>
            <a:ext cx="1180171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1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5-45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26585" y="6442927"/>
            <a:ext cx="103148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мин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741410" y="6015464"/>
            <a:ext cx="9293" cy="594732"/>
          </a:xfrm>
          <a:custGeom>
            <a:avLst/>
            <a:gdLst/>
            <a:ahLst/>
            <a:cxnLst/>
            <a:rect l="l" t="t" r="r" b="b"/>
            <a:pathLst>
              <a:path w="9293" h="594732">
                <a:moveTo>
                  <a:pt x="0" y="0"/>
                </a:moveTo>
                <a:lnTo>
                  <a:pt x="9293" y="0"/>
                </a:lnTo>
                <a:lnTo>
                  <a:pt x="9293" y="594732"/>
                </a:lnTo>
                <a:lnTo>
                  <a:pt x="0" y="594732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973727" y="6052635"/>
            <a:ext cx="2304585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Общая Проблема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973727" y="6350000"/>
            <a:ext cx="228600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Средний разрыв в реагировании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192025" y="6052635"/>
            <a:ext cx="5436220" cy="52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1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Города собирают </a:t>
            </a:r>
            <a:pPr algn="r">
              <a:lnSpc>
                <a:spcPct val="130000"/>
              </a:lnSpc>
            </a:pPr>
            <a:r>
              <a:rPr lang="en-US" sz="1317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массу данных</a:t>
            </a:r>
            <a:pPr algn="r">
              <a:lnSpc>
                <a:spcPct val="130000"/>
              </a:lnSpc>
            </a:pPr>
            <a:r>
              <a:rPr lang="en-US" sz="131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но не хватает </a:t>
            </a:r>
            <a:pPr algn="r">
              <a:lnSpc>
                <a:spcPct val="130000"/>
              </a:lnSpc>
            </a:pPr>
            <a:r>
              <a:rPr lang="en-US" sz="1317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ИИ</a:t>
            </a:r>
            <a:pPr algn="r">
              <a:lnSpc>
                <a:spcPct val="130000"/>
              </a:lnSpc>
            </a:pPr>
            <a:r>
              <a:rPr lang="en-US" sz="131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для превращения их в </a:t>
            </a:r>
            <a:pPr algn="r">
              <a:lnSpc>
                <a:spcPct val="130000"/>
              </a:lnSpc>
            </a:pPr>
            <a:r>
              <a:rPr lang="en-US" sz="1317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действенную информацию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031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spc="291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597733"/>
            <a:ext cx="11699749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2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Единый Командный Центр KIMAK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1608" y="1089984"/>
            <a:ext cx="1157668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Шесть доменов. Один дашборд. Нулевая задержка.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538" y="1514844"/>
            <a:ext cx="3732903" cy="2080346"/>
          </a:xfrm>
          <a:custGeom>
            <a:avLst/>
            <a:gdLst/>
            <a:ahLst/>
            <a:cxnLst/>
            <a:rect l="l" t="t" r="r" b="b"/>
            <a:pathLst>
              <a:path w="3732903" h="2080346">
                <a:moveTo>
                  <a:pt x="0" y="0"/>
                </a:moveTo>
                <a:lnTo>
                  <a:pt x="3732903" y="0"/>
                </a:lnTo>
                <a:lnTo>
                  <a:pt x="3732903" y="2080346"/>
                </a:lnTo>
                <a:lnTo>
                  <a:pt x="0" y="208034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111" y="1675998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0" y="0"/>
                </a:moveTo>
                <a:lnTo>
                  <a:pt x="351608" y="0"/>
                </a:lnTo>
                <a:lnTo>
                  <a:pt x="351608" y="351608"/>
                </a:lnTo>
                <a:lnTo>
                  <a:pt x="0" y="351608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06890" y="1772690"/>
            <a:ext cx="138446" cy="158224"/>
          </a:xfrm>
          <a:custGeom>
            <a:avLst/>
            <a:gdLst/>
            <a:ahLst/>
            <a:cxnLst/>
            <a:rect l="l" t="t" r="r" b="b"/>
            <a:pathLst>
              <a:path w="138446" h="158224">
                <a:moveTo>
                  <a:pt x="104699" y="-3059"/>
                </a:moveTo>
                <a:cubicBezTo>
                  <a:pt x="108377" y="-402"/>
                  <a:pt x="109737" y="4419"/>
                  <a:pt x="108068" y="8622"/>
                </a:cubicBezTo>
                <a:lnTo>
                  <a:pt x="83840" y="69223"/>
                </a:lnTo>
                <a:lnTo>
                  <a:pt x="128557" y="69223"/>
                </a:lnTo>
                <a:cubicBezTo>
                  <a:pt x="132729" y="69223"/>
                  <a:pt x="136437" y="71819"/>
                  <a:pt x="137858" y="75743"/>
                </a:cubicBezTo>
                <a:cubicBezTo>
                  <a:pt x="139280" y="79668"/>
                  <a:pt x="138075" y="84056"/>
                  <a:pt x="134892" y="86714"/>
                </a:cubicBezTo>
                <a:lnTo>
                  <a:pt x="45891" y="160881"/>
                </a:lnTo>
                <a:cubicBezTo>
                  <a:pt x="42399" y="163786"/>
                  <a:pt x="37424" y="163941"/>
                  <a:pt x="33746" y="161283"/>
                </a:cubicBezTo>
                <a:cubicBezTo>
                  <a:pt x="30069" y="158625"/>
                  <a:pt x="28709" y="153804"/>
                  <a:pt x="30378" y="149602"/>
                </a:cubicBezTo>
                <a:lnTo>
                  <a:pt x="54606" y="89001"/>
                </a:lnTo>
                <a:lnTo>
                  <a:pt x="9889" y="89001"/>
                </a:lnTo>
                <a:cubicBezTo>
                  <a:pt x="5717" y="89001"/>
                  <a:pt x="2009" y="86405"/>
                  <a:pt x="587" y="82480"/>
                </a:cubicBezTo>
                <a:cubicBezTo>
                  <a:pt x="-834" y="78555"/>
                  <a:pt x="371" y="74167"/>
                  <a:pt x="3554" y="71510"/>
                </a:cubicBezTo>
                <a:lnTo>
                  <a:pt x="92555" y="-2658"/>
                </a:lnTo>
                <a:cubicBezTo>
                  <a:pt x="96047" y="-5563"/>
                  <a:pt x="101022" y="-5717"/>
                  <a:pt x="104699" y="-305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955201" y="1658417"/>
            <a:ext cx="1415221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spc="42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Энергетика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5201" y="1799061"/>
            <a:ext cx="144159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Управление Сетью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8111" y="2150668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8433" y="2238570"/>
            <a:ext cx="66805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Нагрузка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7962" y="2220990"/>
            <a:ext cx="42192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111" y="2607758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8433" y="2695660"/>
            <a:ext cx="86143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Подстанции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9477" y="2678080"/>
            <a:ext cx="53620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84/91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111" y="3064849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68433" y="3152751"/>
            <a:ext cx="105482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Пиковый спрос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967" y="3135170"/>
            <a:ext cx="94055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2,840 МВт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30007" y="1514844"/>
            <a:ext cx="3732903" cy="2080346"/>
          </a:xfrm>
          <a:custGeom>
            <a:avLst/>
            <a:gdLst/>
            <a:ahLst/>
            <a:cxnLst/>
            <a:rect l="l" t="t" r="r" b="b"/>
            <a:pathLst>
              <a:path w="3732903" h="2080346">
                <a:moveTo>
                  <a:pt x="0" y="0"/>
                </a:moveTo>
                <a:lnTo>
                  <a:pt x="3732903" y="0"/>
                </a:lnTo>
                <a:lnTo>
                  <a:pt x="3732903" y="2080346"/>
                </a:lnTo>
                <a:lnTo>
                  <a:pt x="0" y="208034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A5D6A7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3580" y="1675998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0" y="0"/>
                </a:moveTo>
                <a:lnTo>
                  <a:pt x="351608" y="0"/>
                </a:lnTo>
                <a:lnTo>
                  <a:pt x="351608" y="351608"/>
                </a:lnTo>
                <a:lnTo>
                  <a:pt x="0" y="351608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21" name="Shape 19"/>
          <p:cNvSpPr/>
          <p:nvPr/>
        </p:nvSpPr>
        <p:spPr>
          <a:xfrm>
            <a:off x="4472469" y="1772690"/>
            <a:ext cx="158224" cy="158224"/>
          </a:xfrm>
          <a:custGeom>
            <a:avLst/>
            <a:gdLst/>
            <a:ahLst/>
            <a:cxnLst/>
            <a:rect l="l" t="t" r="r" b="b"/>
            <a:pathLst>
              <a:path w="158224" h="158224">
                <a:moveTo>
                  <a:pt x="126888" y="38351"/>
                </a:moveTo>
                <a:cubicBezTo>
                  <a:pt x="133285" y="43172"/>
                  <a:pt x="141103" y="47838"/>
                  <a:pt x="149818" y="49012"/>
                </a:cubicBezTo>
                <a:cubicBezTo>
                  <a:pt x="153866" y="49568"/>
                  <a:pt x="157605" y="46694"/>
                  <a:pt x="158162" y="42646"/>
                </a:cubicBezTo>
                <a:cubicBezTo>
                  <a:pt x="158718" y="38598"/>
                  <a:pt x="155844" y="34859"/>
                  <a:pt x="151796" y="34302"/>
                </a:cubicBezTo>
                <a:cubicBezTo>
                  <a:pt x="146882" y="33653"/>
                  <a:pt x="141536" y="30810"/>
                  <a:pt x="135819" y="26515"/>
                </a:cubicBezTo>
                <a:cubicBezTo>
                  <a:pt x="123952" y="17553"/>
                  <a:pt x="107852" y="17553"/>
                  <a:pt x="95954" y="26515"/>
                </a:cubicBezTo>
                <a:cubicBezTo>
                  <a:pt x="88537" y="32108"/>
                  <a:pt x="83376" y="34642"/>
                  <a:pt x="79112" y="34642"/>
                </a:cubicBezTo>
                <a:cubicBezTo>
                  <a:pt x="74847" y="34642"/>
                  <a:pt x="69686" y="32108"/>
                  <a:pt x="62270" y="26515"/>
                </a:cubicBezTo>
                <a:cubicBezTo>
                  <a:pt x="50403" y="17553"/>
                  <a:pt x="34302" y="17553"/>
                  <a:pt x="22405" y="26515"/>
                </a:cubicBezTo>
                <a:cubicBezTo>
                  <a:pt x="16688" y="30810"/>
                  <a:pt x="11341" y="33653"/>
                  <a:pt x="6428" y="34302"/>
                </a:cubicBezTo>
                <a:cubicBezTo>
                  <a:pt x="2380" y="34859"/>
                  <a:pt x="-494" y="38567"/>
                  <a:pt x="62" y="42646"/>
                </a:cubicBezTo>
                <a:cubicBezTo>
                  <a:pt x="618" y="46725"/>
                  <a:pt x="4326" y="49568"/>
                  <a:pt x="8406" y="49012"/>
                </a:cubicBezTo>
                <a:cubicBezTo>
                  <a:pt x="17120" y="47838"/>
                  <a:pt x="24970" y="43172"/>
                  <a:pt x="31336" y="38351"/>
                </a:cubicBezTo>
                <a:cubicBezTo>
                  <a:pt x="37918" y="33375"/>
                  <a:pt x="46756" y="33375"/>
                  <a:pt x="53339" y="38351"/>
                </a:cubicBezTo>
                <a:cubicBezTo>
                  <a:pt x="60817" y="44006"/>
                  <a:pt x="69501" y="49445"/>
                  <a:pt x="79112" y="49445"/>
                </a:cubicBezTo>
                <a:cubicBezTo>
                  <a:pt x="88723" y="49445"/>
                  <a:pt x="97375" y="43975"/>
                  <a:pt x="104885" y="38351"/>
                </a:cubicBezTo>
                <a:cubicBezTo>
                  <a:pt x="111467" y="33375"/>
                  <a:pt x="120305" y="33375"/>
                  <a:pt x="126888" y="38351"/>
                </a:cubicBezTo>
                <a:close/>
                <a:moveTo>
                  <a:pt x="126888" y="82851"/>
                </a:moveTo>
                <a:cubicBezTo>
                  <a:pt x="133285" y="87672"/>
                  <a:pt x="141103" y="92338"/>
                  <a:pt x="149818" y="93513"/>
                </a:cubicBezTo>
                <a:cubicBezTo>
                  <a:pt x="153866" y="94069"/>
                  <a:pt x="157605" y="91195"/>
                  <a:pt x="158162" y="87147"/>
                </a:cubicBezTo>
                <a:cubicBezTo>
                  <a:pt x="158718" y="83098"/>
                  <a:pt x="155844" y="79359"/>
                  <a:pt x="151796" y="78803"/>
                </a:cubicBezTo>
                <a:cubicBezTo>
                  <a:pt x="146882" y="78154"/>
                  <a:pt x="141536" y="75311"/>
                  <a:pt x="135819" y="71015"/>
                </a:cubicBezTo>
                <a:cubicBezTo>
                  <a:pt x="123952" y="62053"/>
                  <a:pt x="107852" y="62053"/>
                  <a:pt x="95954" y="71015"/>
                </a:cubicBezTo>
                <a:cubicBezTo>
                  <a:pt x="88537" y="76609"/>
                  <a:pt x="83376" y="79143"/>
                  <a:pt x="79112" y="79143"/>
                </a:cubicBezTo>
                <a:cubicBezTo>
                  <a:pt x="74847" y="79143"/>
                  <a:pt x="69686" y="76609"/>
                  <a:pt x="62270" y="71015"/>
                </a:cubicBezTo>
                <a:cubicBezTo>
                  <a:pt x="50403" y="62053"/>
                  <a:pt x="34302" y="62053"/>
                  <a:pt x="22405" y="71015"/>
                </a:cubicBezTo>
                <a:cubicBezTo>
                  <a:pt x="16688" y="75311"/>
                  <a:pt x="11341" y="78154"/>
                  <a:pt x="6428" y="78803"/>
                </a:cubicBezTo>
                <a:cubicBezTo>
                  <a:pt x="2380" y="79328"/>
                  <a:pt x="-494" y="83067"/>
                  <a:pt x="62" y="87147"/>
                </a:cubicBezTo>
                <a:cubicBezTo>
                  <a:pt x="618" y="91226"/>
                  <a:pt x="4326" y="94069"/>
                  <a:pt x="8406" y="93513"/>
                </a:cubicBezTo>
                <a:cubicBezTo>
                  <a:pt x="17120" y="92338"/>
                  <a:pt x="24970" y="87672"/>
                  <a:pt x="31336" y="82851"/>
                </a:cubicBezTo>
                <a:cubicBezTo>
                  <a:pt x="37918" y="77876"/>
                  <a:pt x="46756" y="77876"/>
                  <a:pt x="53339" y="82851"/>
                </a:cubicBezTo>
                <a:cubicBezTo>
                  <a:pt x="60817" y="88506"/>
                  <a:pt x="69501" y="93945"/>
                  <a:pt x="79112" y="93945"/>
                </a:cubicBezTo>
                <a:cubicBezTo>
                  <a:pt x="88723" y="93945"/>
                  <a:pt x="97375" y="88475"/>
                  <a:pt x="104885" y="82851"/>
                </a:cubicBezTo>
                <a:cubicBezTo>
                  <a:pt x="111467" y="77876"/>
                  <a:pt x="120305" y="77876"/>
                  <a:pt x="126888" y="82851"/>
                </a:cubicBezTo>
                <a:close/>
                <a:moveTo>
                  <a:pt x="104885" y="127351"/>
                </a:moveTo>
                <a:cubicBezTo>
                  <a:pt x="111467" y="122376"/>
                  <a:pt x="120305" y="122376"/>
                  <a:pt x="126888" y="127351"/>
                </a:cubicBezTo>
                <a:cubicBezTo>
                  <a:pt x="133285" y="132172"/>
                  <a:pt x="141103" y="136839"/>
                  <a:pt x="149818" y="138013"/>
                </a:cubicBezTo>
                <a:cubicBezTo>
                  <a:pt x="153866" y="138569"/>
                  <a:pt x="157605" y="135695"/>
                  <a:pt x="158162" y="131647"/>
                </a:cubicBezTo>
                <a:cubicBezTo>
                  <a:pt x="158718" y="127599"/>
                  <a:pt x="155844" y="123859"/>
                  <a:pt x="151796" y="123303"/>
                </a:cubicBezTo>
                <a:cubicBezTo>
                  <a:pt x="146882" y="122654"/>
                  <a:pt x="141536" y="119811"/>
                  <a:pt x="135819" y="115516"/>
                </a:cubicBezTo>
                <a:cubicBezTo>
                  <a:pt x="123952" y="106554"/>
                  <a:pt x="107852" y="106554"/>
                  <a:pt x="95954" y="115516"/>
                </a:cubicBezTo>
                <a:cubicBezTo>
                  <a:pt x="88537" y="121109"/>
                  <a:pt x="83376" y="123643"/>
                  <a:pt x="79112" y="123643"/>
                </a:cubicBezTo>
                <a:cubicBezTo>
                  <a:pt x="74847" y="123643"/>
                  <a:pt x="69686" y="121109"/>
                  <a:pt x="62270" y="115516"/>
                </a:cubicBezTo>
                <a:cubicBezTo>
                  <a:pt x="50403" y="106554"/>
                  <a:pt x="34302" y="106554"/>
                  <a:pt x="22405" y="115516"/>
                </a:cubicBezTo>
                <a:cubicBezTo>
                  <a:pt x="16688" y="119811"/>
                  <a:pt x="11341" y="122654"/>
                  <a:pt x="6428" y="123303"/>
                </a:cubicBezTo>
                <a:cubicBezTo>
                  <a:pt x="2380" y="123859"/>
                  <a:pt x="-494" y="127568"/>
                  <a:pt x="62" y="131647"/>
                </a:cubicBezTo>
                <a:cubicBezTo>
                  <a:pt x="618" y="135726"/>
                  <a:pt x="4326" y="138569"/>
                  <a:pt x="8406" y="138013"/>
                </a:cubicBezTo>
                <a:cubicBezTo>
                  <a:pt x="17120" y="136839"/>
                  <a:pt x="24970" y="132172"/>
                  <a:pt x="31336" y="127351"/>
                </a:cubicBezTo>
                <a:cubicBezTo>
                  <a:pt x="37918" y="122376"/>
                  <a:pt x="46756" y="122376"/>
                  <a:pt x="53339" y="127351"/>
                </a:cubicBezTo>
                <a:cubicBezTo>
                  <a:pt x="60817" y="133007"/>
                  <a:pt x="69501" y="138446"/>
                  <a:pt x="79112" y="138446"/>
                </a:cubicBezTo>
                <a:cubicBezTo>
                  <a:pt x="88723" y="138446"/>
                  <a:pt x="97375" y="132976"/>
                  <a:pt x="104885" y="12735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4830670" y="1658417"/>
            <a:ext cx="1784410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spc="42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Коммунальные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30670" y="1799061"/>
            <a:ext cx="181078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Вода и Инфраструктура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73580" y="2150668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443901" y="2238570"/>
            <a:ext cx="70321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Давление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0144" y="2220990"/>
            <a:ext cx="65926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4.2 бар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73580" y="2607758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43901" y="2695660"/>
            <a:ext cx="144159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Активные инциденты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41335" y="2678080"/>
            <a:ext cx="19338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3580" y="3064849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443901" y="3152751"/>
            <a:ext cx="140643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реагирования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94225" y="3135170"/>
            <a:ext cx="64168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 мин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5475" y="1514844"/>
            <a:ext cx="3732903" cy="2080346"/>
          </a:xfrm>
          <a:custGeom>
            <a:avLst/>
            <a:gdLst/>
            <a:ahLst/>
            <a:cxnLst/>
            <a:rect l="l" t="t" r="r" b="b"/>
            <a:pathLst>
              <a:path w="3732903" h="2080346">
                <a:moveTo>
                  <a:pt x="0" y="0"/>
                </a:moveTo>
                <a:lnTo>
                  <a:pt x="3732903" y="0"/>
                </a:lnTo>
                <a:lnTo>
                  <a:pt x="3732903" y="2080346"/>
                </a:lnTo>
                <a:lnTo>
                  <a:pt x="0" y="208034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9048" y="1675998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0" y="0"/>
                </a:moveTo>
                <a:lnTo>
                  <a:pt x="351608" y="0"/>
                </a:lnTo>
                <a:lnTo>
                  <a:pt x="351608" y="351608"/>
                </a:lnTo>
                <a:lnTo>
                  <a:pt x="0" y="351608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35" name="Shape 33"/>
          <p:cNvSpPr/>
          <p:nvPr/>
        </p:nvSpPr>
        <p:spPr>
          <a:xfrm>
            <a:off x="8347938" y="1772690"/>
            <a:ext cx="158224" cy="158224"/>
          </a:xfrm>
          <a:custGeom>
            <a:avLst/>
            <a:gdLst/>
            <a:ahLst/>
            <a:cxnLst/>
            <a:rect l="l" t="t" r="r" b="b"/>
            <a:pathLst>
              <a:path w="158224" h="158224">
                <a:moveTo>
                  <a:pt x="41781" y="36280"/>
                </a:moveTo>
                <a:lnTo>
                  <a:pt x="33715" y="59334"/>
                </a:lnTo>
                <a:lnTo>
                  <a:pt x="124508" y="59334"/>
                </a:lnTo>
                <a:lnTo>
                  <a:pt x="116443" y="36280"/>
                </a:lnTo>
                <a:cubicBezTo>
                  <a:pt x="115052" y="32325"/>
                  <a:pt x="111313" y="29667"/>
                  <a:pt x="107110" y="29667"/>
                </a:cubicBezTo>
                <a:lnTo>
                  <a:pt x="51114" y="29667"/>
                </a:lnTo>
                <a:cubicBezTo>
                  <a:pt x="46911" y="29667"/>
                  <a:pt x="43172" y="32325"/>
                  <a:pt x="41781" y="36280"/>
                </a:cubicBezTo>
                <a:close/>
                <a:moveTo>
                  <a:pt x="12238" y="60817"/>
                </a:moveTo>
                <a:lnTo>
                  <a:pt x="23115" y="29760"/>
                </a:lnTo>
                <a:cubicBezTo>
                  <a:pt x="27287" y="17862"/>
                  <a:pt x="38505" y="9889"/>
                  <a:pt x="51114" y="9889"/>
                </a:cubicBezTo>
                <a:lnTo>
                  <a:pt x="107110" y="9889"/>
                </a:lnTo>
                <a:cubicBezTo>
                  <a:pt x="119718" y="9889"/>
                  <a:pt x="130936" y="17862"/>
                  <a:pt x="135108" y="29760"/>
                </a:cubicBezTo>
                <a:lnTo>
                  <a:pt x="145986" y="60817"/>
                </a:lnTo>
                <a:cubicBezTo>
                  <a:pt x="153155" y="63784"/>
                  <a:pt x="158224" y="70861"/>
                  <a:pt x="158224" y="79112"/>
                </a:cubicBezTo>
                <a:lnTo>
                  <a:pt x="158224" y="138446"/>
                </a:lnTo>
                <a:cubicBezTo>
                  <a:pt x="158224" y="143915"/>
                  <a:pt x="153804" y="148335"/>
                  <a:pt x="148335" y="148335"/>
                </a:cubicBezTo>
                <a:lnTo>
                  <a:pt x="138446" y="148335"/>
                </a:lnTo>
                <a:cubicBezTo>
                  <a:pt x="132976" y="148335"/>
                  <a:pt x="128557" y="143915"/>
                  <a:pt x="128557" y="138446"/>
                </a:cubicBezTo>
                <a:lnTo>
                  <a:pt x="128557" y="128557"/>
                </a:lnTo>
                <a:lnTo>
                  <a:pt x="29667" y="128557"/>
                </a:lnTo>
                <a:lnTo>
                  <a:pt x="29667" y="138446"/>
                </a:lnTo>
                <a:cubicBezTo>
                  <a:pt x="29667" y="143915"/>
                  <a:pt x="25248" y="148335"/>
                  <a:pt x="19778" y="148335"/>
                </a:cubicBezTo>
                <a:lnTo>
                  <a:pt x="9889" y="148335"/>
                </a:lnTo>
                <a:cubicBezTo>
                  <a:pt x="4419" y="148335"/>
                  <a:pt x="0" y="143915"/>
                  <a:pt x="0" y="138446"/>
                </a:cubicBezTo>
                <a:lnTo>
                  <a:pt x="0" y="79112"/>
                </a:lnTo>
                <a:cubicBezTo>
                  <a:pt x="0" y="70861"/>
                  <a:pt x="5068" y="63784"/>
                  <a:pt x="12238" y="60817"/>
                </a:cubicBezTo>
                <a:close/>
                <a:moveTo>
                  <a:pt x="39556" y="93945"/>
                </a:moveTo>
                <a:cubicBezTo>
                  <a:pt x="39556" y="88487"/>
                  <a:pt x="35125" y="84056"/>
                  <a:pt x="29667" y="84056"/>
                </a:cubicBezTo>
                <a:cubicBezTo>
                  <a:pt x="24209" y="84056"/>
                  <a:pt x="19778" y="88487"/>
                  <a:pt x="19778" y="93945"/>
                </a:cubicBezTo>
                <a:cubicBezTo>
                  <a:pt x="19778" y="99403"/>
                  <a:pt x="24209" y="103834"/>
                  <a:pt x="29667" y="103834"/>
                </a:cubicBezTo>
                <a:cubicBezTo>
                  <a:pt x="35125" y="103834"/>
                  <a:pt x="39556" y="99403"/>
                  <a:pt x="39556" y="93945"/>
                </a:cubicBezTo>
                <a:close/>
                <a:moveTo>
                  <a:pt x="128557" y="103834"/>
                </a:moveTo>
                <a:cubicBezTo>
                  <a:pt x="134014" y="103834"/>
                  <a:pt x="138446" y="99403"/>
                  <a:pt x="138446" y="93945"/>
                </a:cubicBezTo>
                <a:cubicBezTo>
                  <a:pt x="138446" y="88487"/>
                  <a:pt x="134014" y="84056"/>
                  <a:pt x="128557" y="84056"/>
                </a:cubicBezTo>
                <a:cubicBezTo>
                  <a:pt x="123099" y="84056"/>
                  <a:pt x="118668" y="88487"/>
                  <a:pt x="118668" y="93945"/>
                </a:cubicBezTo>
                <a:cubicBezTo>
                  <a:pt x="118668" y="99403"/>
                  <a:pt x="123099" y="103834"/>
                  <a:pt x="128557" y="103834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36" name="Text 34"/>
          <p:cNvSpPr/>
          <p:nvPr/>
        </p:nvSpPr>
        <p:spPr>
          <a:xfrm>
            <a:off x="8706138" y="1658417"/>
            <a:ext cx="1678927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spc="42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Транспорт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06138" y="1799061"/>
            <a:ext cx="170529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Оптимизация Трафика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49048" y="2150668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319370" y="2238570"/>
            <a:ext cx="55378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Заторы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89975" y="2220990"/>
            <a:ext cx="1019663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Умеренные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49048" y="2607758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319370" y="2695660"/>
            <a:ext cx="123941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Средняя скорость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18418" y="2678080"/>
            <a:ext cx="69442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 км/ч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49048" y="3064849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319370" y="3152751"/>
            <a:ext cx="80869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Инциденты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34476" y="3135170"/>
            <a:ext cx="97571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активных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54538" y="3741693"/>
            <a:ext cx="3732903" cy="2080346"/>
          </a:xfrm>
          <a:custGeom>
            <a:avLst/>
            <a:gdLst/>
            <a:ahLst/>
            <a:cxnLst/>
            <a:rect l="l" t="t" r="r" b="b"/>
            <a:pathLst>
              <a:path w="3732903" h="2080346">
                <a:moveTo>
                  <a:pt x="0" y="0"/>
                </a:moveTo>
                <a:lnTo>
                  <a:pt x="3732903" y="0"/>
                </a:lnTo>
                <a:lnTo>
                  <a:pt x="3732903" y="2080346"/>
                </a:lnTo>
                <a:lnTo>
                  <a:pt x="0" y="208034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111" y="3902846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0" y="0"/>
                </a:moveTo>
                <a:lnTo>
                  <a:pt x="351608" y="0"/>
                </a:lnTo>
                <a:lnTo>
                  <a:pt x="351608" y="351608"/>
                </a:lnTo>
                <a:lnTo>
                  <a:pt x="0" y="351608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Shape 47"/>
          <p:cNvSpPr/>
          <p:nvPr/>
        </p:nvSpPr>
        <p:spPr>
          <a:xfrm>
            <a:off x="597001" y="3999539"/>
            <a:ext cx="158224" cy="158224"/>
          </a:xfrm>
          <a:custGeom>
            <a:avLst/>
            <a:gdLst/>
            <a:ahLst/>
            <a:cxnLst/>
            <a:rect l="l" t="t" r="r" b="b"/>
            <a:pathLst>
              <a:path w="158224" h="158224">
                <a:moveTo>
                  <a:pt x="145646" y="2071"/>
                </a:moveTo>
                <a:cubicBezTo>
                  <a:pt x="147624" y="185"/>
                  <a:pt x="150498" y="-494"/>
                  <a:pt x="153155" y="371"/>
                </a:cubicBezTo>
                <a:cubicBezTo>
                  <a:pt x="156184" y="1391"/>
                  <a:pt x="158224" y="4234"/>
                  <a:pt x="158224" y="7417"/>
                </a:cubicBezTo>
                <a:lnTo>
                  <a:pt x="158224" y="65174"/>
                </a:lnTo>
                <a:cubicBezTo>
                  <a:pt x="158224" y="105719"/>
                  <a:pt x="124817" y="138446"/>
                  <a:pt x="84427" y="138446"/>
                </a:cubicBezTo>
                <a:cubicBezTo>
                  <a:pt x="60632" y="138446"/>
                  <a:pt x="40112" y="123149"/>
                  <a:pt x="32665" y="101764"/>
                </a:cubicBezTo>
                <a:cubicBezTo>
                  <a:pt x="21725" y="111282"/>
                  <a:pt x="14833" y="125281"/>
                  <a:pt x="14833" y="140918"/>
                </a:cubicBezTo>
                <a:cubicBezTo>
                  <a:pt x="14833" y="145028"/>
                  <a:pt x="11527" y="148335"/>
                  <a:pt x="7417" y="148335"/>
                </a:cubicBezTo>
                <a:cubicBezTo>
                  <a:pt x="3307" y="148335"/>
                  <a:pt x="0" y="145028"/>
                  <a:pt x="0" y="140918"/>
                </a:cubicBezTo>
                <a:cubicBezTo>
                  <a:pt x="0" y="117771"/>
                  <a:pt x="11805" y="97375"/>
                  <a:pt x="29698" y="85385"/>
                </a:cubicBezTo>
                <a:cubicBezTo>
                  <a:pt x="40607" y="78092"/>
                  <a:pt x="53617" y="74167"/>
                  <a:pt x="66751" y="74167"/>
                </a:cubicBezTo>
                <a:lnTo>
                  <a:pt x="91473" y="74167"/>
                </a:lnTo>
                <a:cubicBezTo>
                  <a:pt x="95583" y="74167"/>
                  <a:pt x="98890" y="70861"/>
                  <a:pt x="98890" y="66751"/>
                </a:cubicBezTo>
                <a:cubicBezTo>
                  <a:pt x="98890" y="62640"/>
                  <a:pt x="95583" y="59334"/>
                  <a:pt x="91473" y="59334"/>
                </a:cubicBezTo>
                <a:lnTo>
                  <a:pt x="66751" y="59334"/>
                </a:lnTo>
                <a:cubicBezTo>
                  <a:pt x="54482" y="59334"/>
                  <a:pt x="42862" y="62053"/>
                  <a:pt x="32448" y="66905"/>
                </a:cubicBezTo>
                <a:cubicBezTo>
                  <a:pt x="39649" y="45273"/>
                  <a:pt x="60014" y="29667"/>
                  <a:pt x="84056" y="29667"/>
                </a:cubicBezTo>
                <a:cubicBezTo>
                  <a:pt x="104576" y="29667"/>
                  <a:pt x="119842" y="22837"/>
                  <a:pt x="130009" y="16070"/>
                </a:cubicBezTo>
                <a:cubicBezTo>
                  <a:pt x="135942" y="12114"/>
                  <a:pt x="140980" y="7386"/>
                  <a:pt x="145677" y="207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Text 48"/>
          <p:cNvSpPr/>
          <p:nvPr/>
        </p:nvSpPr>
        <p:spPr>
          <a:xfrm>
            <a:off x="955201" y="3885266"/>
            <a:ext cx="2179968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spc="42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Городская Среда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55201" y="4025909"/>
            <a:ext cx="220633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Воздух и Окружающая Среда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98111" y="437751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68433" y="4465419"/>
            <a:ext cx="7823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города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674393" y="4447839"/>
            <a:ext cx="28128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79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98111" y="483460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68433" y="4922509"/>
            <a:ext cx="98450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Уровень шума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409863" y="4904929"/>
            <a:ext cx="54499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68 дБ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98111" y="529169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68433" y="5379599"/>
            <a:ext cx="111635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Зеленый покров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551880" y="5362019"/>
            <a:ext cx="40434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18%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30007" y="3741693"/>
            <a:ext cx="3732903" cy="2080346"/>
          </a:xfrm>
          <a:custGeom>
            <a:avLst/>
            <a:gdLst/>
            <a:ahLst/>
            <a:cxnLst/>
            <a:rect l="l" t="t" r="r" b="b"/>
            <a:pathLst>
              <a:path w="3732903" h="2080346">
                <a:moveTo>
                  <a:pt x="0" y="0"/>
                </a:moveTo>
                <a:lnTo>
                  <a:pt x="3732903" y="0"/>
                </a:lnTo>
                <a:lnTo>
                  <a:pt x="3732903" y="2080346"/>
                </a:lnTo>
                <a:lnTo>
                  <a:pt x="0" y="208034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A5D6A7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73580" y="3902846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0" y="0"/>
                </a:moveTo>
                <a:lnTo>
                  <a:pt x="351608" y="0"/>
                </a:lnTo>
                <a:lnTo>
                  <a:pt x="351608" y="351608"/>
                </a:lnTo>
                <a:lnTo>
                  <a:pt x="0" y="351608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63" name="Shape 61"/>
          <p:cNvSpPr/>
          <p:nvPr/>
        </p:nvSpPr>
        <p:spPr>
          <a:xfrm>
            <a:off x="4452692" y="3999539"/>
            <a:ext cx="197779" cy="158224"/>
          </a:xfrm>
          <a:custGeom>
            <a:avLst/>
            <a:gdLst/>
            <a:ahLst/>
            <a:cxnLst/>
            <a:rect l="l" t="t" r="r" b="b"/>
            <a:pathLst>
              <a:path w="197779" h="158224">
                <a:moveTo>
                  <a:pt x="98890" y="4944"/>
                </a:moveTo>
                <a:cubicBezTo>
                  <a:pt x="116628" y="4944"/>
                  <a:pt x="131029" y="19346"/>
                  <a:pt x="131029" y="37084"/>
                </a:cubicBezTo>
                <a:cubicBezTo>
                  <a:pt x="131029" y="54822"/>
                  <a:pt x="116628" y="69223"/>
                  <a:pt x="98890" y="69223"/>
                </a:cubicBezTo>
                <a:cubicBezTo>
                  <a:pt x="81152" y="69223"/>
                  <a:pt x="66751" y="54822"/>
                  <a:pt x="66751" y="37084"/>
                </a:cubicBezTo>
                <a:cubicBezTo>
                  <a:pt x="66751" y="19346"/>
                  <a:pt x="81152" y="4944"/>
                  <a:pt x="98890" y="4944"/>
                </a:cubicBezTo>
                <a:close/>
                <a:moveTo>
                  <a:pt x="29667" y="27195"/>
                </a:moveTo>
                <a:cubicBezTo>
                  <a:pt x="41947" y="27195"/>
                  <a:pt x="51917" y="37165"/>
                  <a:pt x="51917" y="49445"/>
                </a:cubicBezTo>
                <a:cubicBezTo>
                  <a:pt x="51917" y="61725"/>
                  <a:pt x="41947" y="71695"/>
                  <a:pt x="29667" y="71695"/>
                </a:cubicBezTo>
                <a:cubicBezTo>
                  <a:pt x="17387" y="71695"/>
                  <a:pt x="7417" y="61725"/>
                  <a:pt x="7417" y="49445"/>
                </a:cubicBezTo>
                <a:cubicBezTo>
                  <a:pt x="7417" y="37165"/>
                  <a:pt x="17387" y="27195"/>
                  <a:pt x="29667" y="27195"/>
                </a:cubicBezTo>
                <a:close/>
                <a:moveTo>
                  <a:pt x="0" y="128557"/>
                </a:moveTo>
                <a:cubicBezTo>
                  <a:pt x="0" y="106708"/>
                  <a:pt x="17707" y="89001"/>
                  <a:pt x="39556" y="89001"/>
                </a:cubicBezTo>
                <a:cubicBezTo>
                  <a:pt x="43511" y="89001"/>
                  <a:pt x="47343" y="89588"/>
                  <a:pt x="50959" y="90669"/>
                </a:cubicBezTo>
                <a:cubicBezTo>
                  <a:pt x="40792" y="102042"/>
                  <a:pt x="34611" y="117061"/>
                  <a:pt x="34611" y="133501"/>
                </a:cubicBezTo>
                <a:lnTo>
                  <a:pt x="34611" y="138446"/>
                </a:lnTo>
                <a:cubicBezTo>
                  <a:pt x="34611" y="141969"/>
                  <a:pt x="35353" y="145306"/>
                  <a:pt x="36682" y="148335"/>
                </a:cubicBezTo>
                <a:lnTo>
                  <a:pt x="9889" y="148335"/>
                </a:lnTo>
                <a:cubicBezTo>
                  <a:pt x="4419" y="148335"/>
                  <a:pt x="0" y="143915"/>
                  <a:pt x="0" y="138446"/>
                </a:cubicBezTo>
                <a:lnTo>
                  <a:pt x="0" y="128557"/>
                </a:lnTo>
                <a:close/>
                <a:moveTo>
                  <a:pt x="161097" y="148335"/>
                </a:moveTo>
                <a:cubicBezTo>
                  <a:pt x="162426" y="145306"/>
                  <a:pt x="163168" y="141969"/>
                  <a:pt x="163168" y="138446"/>
                </a:cubicBezTo>
                <a:lnTo>
                  <a:pt x="163168" y="133501"/>
                </a:lnTo>
                <a:cubicBezTo>
                  <a:pt x="163168" y="117061"/>
                  <a:pt x="156987" y="102042"/>
                  <a:pt x="146820" y="90669"/>
                </a:cubicBezTo>
                <a:cubicBezTo>
                  <a:pt x="150436" y="89588"/>
                  <a:pt x="154268" y="89001"/>
                  <a:pt x="158224" y="89001"/>
                </a:cubicBezTo>
                <a:cubicBezTo>
                  <a:pt x="180072" y="89001"/>
                  <a:pt x="197779" y="106708"/>
                  <a:pt x="197779" y="128557"/>
                </a:cubicBezTo>
                <a:lnTo>
                  <a:pt x="197779" y="138446"/>
                </a:lnTo>
                <a:cubicBezTo>
                  <a:pt x="197779" y="143915"/>
                  <a:pt x="193360" y="148335"/>
                  <a:pt x="187890" y="148335"/>
                </a:cubicBezTo>
                <a:lnTo>
                  <a:pt x="161097" y="148335"/>
                </a:lnTo>
                <a:close/>
                <a:moveTo>
                  <a:pt x="145862" y="49445"/>
                </a:moveTo>
                <a:cubicBezTo>
                  <a:pt x="145862" y="37165"/>
                  <a:pt x="155832" y="27195"/>
                  <a:pt x="168112" y="27195"/>
                </a:cubicBezTo>
                <a:cubicBezTo>
                  <a:pt x="180393" y="27195"/>
                  <a:pt x="190363" y="37165"/>
                  <a:pt x="190363" y="49445"/>
                </a:cubicBezTo>
                <a:cubicBezTo>
                  <a:pt x="190363" y="61725"/>
                  <a:pt x="180393" y="71695"/>
                  <a:pt x="168112" y="71695"/>
                </a:cubicBezTo>
                <a:cubicBezTo>
                  <a:pt x="155832" y="71695"/>
                  <a:pt x="145862" y="61725"/>
                  <a:pt x="145862" y="49445"/>
                </a:cubicBezTo>
                <a:close/>
                <a:moveTo>
                  <a:pt x="49445" y="133501"/>
                </a:moveTo>
                <a:cubicBezTo>
                  <a:pt x="49445" y="106183"/>
                  <a:pt x="71571" y="84056"/>
                  <a:pt x="98890" y="84056"/>
                </a:cubicBezTo>
                <a:cubicBezTo>
                  <a:pt x="126208" y="84056"/>
                  <a:pt x="148335" y="106183"/>
                  <a:pt x="148335" y="133501"/>
                </a:cubicBezTo>
                <a:lnTo>
                  <a:pt x="148335" y="138446"/>
                </a:lnTo>
                <a:cubicBezTo>
                  <a:pt x="148335" y="143915"/>
                  <a:pt x="143915" y="148335"/>
                  <a:pt x="138446" y="148335"/>
                </a:cubicBezTo>
                <a:lnTo>
                  <a:pt x="59334" y="148335"/>
                </a:lnTo>
                <a:cubicBezTo>
                  <a:pt x="53864" y="148335"/>
                  <a:pt x="49445" y="143915"/>
                  <a:pt x="49445" y="138446"/>
                </a:cubicBezTo>
                <a:lnTo>
                  <a:pt x="49445" y="13350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4" name="Text 62"/>
          <p:cNvSpPr/>
          <p:nvPr/>
        </p:nvSpPr>
        <p:spPr>
          <a:xfrm>
            <a:off x="4830670" y="3885266"/>
            <a:ext cx="201295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spc="42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Туризм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830670" y="4025909"/>
            <a:ext cx="203932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Управление Посетителями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373580" y="437751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443901" y="4465419"/>
            <a:ext cx="138885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Посетители сегодня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166664" y="4447839"/>
            <a:ext cx="66805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84,200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373580" y="483460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443901" y="4922509"/>
            <a:ext cx="85264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Настроение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66367" y="4904929"/>
            <a:ext cx="46588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4.1/5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373580" y="529169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443901" y="5379599"/>
            <a:ext cx="61531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Выручка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282127" y="5362019"/>
            <a:ext cx="55378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₸2.4B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105475" y="3741693"/>
            <a:ext cx="3732903" cy="2080346"/>
          </a:xfrm>
          <a:custGeom>
            <a:avLst/>
            <a:gdLst/>
            <a:ahLst/>
            <a:cxnLst/>
            <a:rect l="l" t="t" r="r" b="b"/>
            <a:pathLst>
              <a:path w="3732903" h="2080346">
                <a:moveTo>
                  <a:pt x="0" y="0"/>
                </a:moveTo>
                <a:lnTo>
                  <a:pt x="3732903" y="0"/>
                </a:lnTo>
                <a:lnTo>
                  <a:pt x="3732903" y="2080346"/>
                </a:lnTo>
                <a:lnTo>
                  <a:pt x="0" y="208034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49048" y="3902846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0" y="0"/>
                </a:moveTo>
                <a:lnTo>
                  <a:pt x="351608" y="0"/>
                </a:lnTo>
                <a:lnTo>
                  <a:pt x="351608" y="351608"/>
                </a:lnTo>
                <a:lnTo>
                  <a:pt x="0" y="351608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77" name="Shape 75"/>
          <p:cNvSpPr/>
          <p:nvPr/>
        </p:nvSpPr>
        <p:spPr>
          <a:xfrm>
            <a:off x="8338049" y="3999539"/>
            <a:ext cx="178001" cy="158224"/>
          </a:xfrm>
          <a:custGeom>
            <a:avLst/>
            <a:gdLst/>
            <a:ahLst/>
            <a:cxnLst/>
            <a:rect l="l" t="t" r="r" b="b"/>
            <a:pathLst>
              <a:path w="178001" h="158224">
                <a:moveTo>
                  <a:pt x="118668" y="44500"/>
                </a:moveTo>
                <a:cubicBezTo>
                  <a:pt x="118668" y="74538"/>
                  <a:pt x="92091" y="98890"/>
                  <a:pt x="59334" y="98890"/>
                </a:cubicBezTo>
                <a:cubicBezTo>
                  <a:pt x="51083" y="98890"/>
                  <a:pt x="43233" y="97345"/>
                  <a:pt x="36095" y="94563"/>
                </a:cubicBezTo>
                <a:lnTo>
                  <a:pt x="10878" y="107913"/>
                </a:lnTo>
                <a:cubicBezTo>
                  <a:pt x="8004" y="109428"/>
                  <a:pt x="4481" y="108902"/>
                  <a:pt x="2163" y="106615"/>
                </a:cubicBezTo>
                <a:cubicBezTo>
                  <a:pt x="-155" y="104329"/>
                  <a:pt x="-680" y="100775"/>
                  <a:pt x="865" y="97901"/>
                </a:cubicBezTo>
                <a:lnTo>
                  <a:pt x="11867" y="77134"/>
                </a:lnTo>
                <a:cubicBezTo>
                  <a:pt x="4419" y="68048"/>
                  <a:pt x="0" y="56738"/>
                  <a:pt x="0" y="44500"/>
                </a:cubicBezTo>
                <a:cubicBezTo>
                  <a:pt x="0" y="14463"/>
                  <a:pt x="26577" y="-9889"/>
                  <a:pt x="59334" y="-9889"/>
                </a:cubicBezTo>
                <a:cubicBezTo>
                  <a:pt x="92091" y="-9889"/>
                  <a:pt x="118668" y="14463"/>
                  <a:pt x="118668" y="44500"/>
                </a:cubicBezTo>
                <a:close/>
                <a:moveTo>
                  <a:pt x="118668" y="158224"/>
                </a:moveTo>
                <a:cubicBezTo>
                  <a:pt x="89588" y="158224"/>
                  <a:pt x="65391" y="139033"/>
                  <a:pt x="60323" y="113723"/>
                </a:cubicBezTo>
                <a:cubicBezTo>
                  <a:pt x="97406" y="113260"/>
                  <a:pt x="129638" y="86868"/>
                  <a:pt x="133192" y="51083"/>
                </a:cubicBezTo>
                <a:cubicBezTo>
                  <a:pt x="158934" y="57016"/>
                  <a:pt x="178001" y="78370"/>
                  <a:pt x="178001" y="103834"/>
                </a:cubicBezTo>
                <a:cubicBezTo>
                  <a:pt x="178001" y="116072"/>
                  <a:pt x="173582" y="127382"/>
                  <a:pt x="166135" y="136468"/>
                </a:cubicBezTo>
                <a:lnTo>
                  <a:pt x="177136" y="157235"/>
                </a:lnTo>
                <a:cubicBezTo>
                  <a:pt x="178650" y="160109"/>
                  <a:pt x="178125" y="163632"/>
                  <a:pt x="175838" y="165949"/>
                </a:cubicBezTo>
                <a:cubicBezTo>
                  <a:pt x="173551" y="168267"/>
                  <a:pt x="169998" y="168792"/>
                  <a:pt x="167124" y="167247"/>
                </a:cubicBezTo>
                <a:lnTo>
                  <a:pt x="141907" y="153897"/>
                </a:lnTo>
                <a:cubicBezTo>
                  <a:pt x="134768" y="156678"/>
                  <a:pt x="126919" y="158224"/>
                  <a:pt x="118668" y="158224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78" name="Text 76"/>
          <p:cNvSpPr/>
          <p:nvPr/>
        </p:nvSpPr>
        <p:spPr>
          <a:xfrm>
            <a:off x="8706138" y="3885266"/>
            <a:ext cx="1256998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spc="42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Жалобы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706138" y="4025909"/>
            <a:ext cx="128336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Отчеты Граждан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49048" y="437751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8319370" y="4465419"/>
            <a:ext cx="61531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Сегодня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1358030" y="4447839"/>
            <a:ext cx="35160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127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249048" y="483460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8319370" y="4922509"/>
            <a:ext cx="86143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Разрешение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305656" y="4904929"/>
            <a:ext cx="40434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91%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8249048" y="5291697"/>
            <a:ext cx="3445756" cy="386769"/>
          </a:xfrm>
          <a:custGeom>
            <a:avLst/>
            <a:gdLst/>
            <a:ahLst/>
            <a:cxnLst/>
            <a:rect l="l" t="t" r="r" b="b"/>
            <a:pathLst>
              <a:path w="3445756" h="386769">
                <a:moveTo>
                  <a:pt x="0" y="0"/>
                </a:moveTo>
                <a:lnTo>
                  <a:pt x="3445756" y="0"/>
                </a:lnTo>
                <a:lnTo>
                  <a:pt x="3445756" y="386769"/>
                </a:lnTo>
                <a:lnTo>
                  <a:pt x="0" y="38676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8319370" y="5379599"/>
            <a:ext cx="105482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Среднее время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1286519" y="5362019"/>
            <a:ext cx="42192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4.2ч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54538" y="5968543"/>
            <a:ext cx="3732903" cy="884880"/>
          </a:xfrm>
          <a:custGeom>
            <a:avLst/>
            <a:gdLst/>
            <a:ahLst/>
            <a:cxnLst/>
            <a:rect l="l" t="t" r="r" b="b"/>
            <a:pathLst>
              <a:path w="3732903" h="884880">
                <a:moveTo>
                  <a:pt x="0" y="0"/>
                </a:moveTo>
                <a:lnTo>
                  <a:pt x="3732903" y="0"/>
                </a:lnTo>
                <a:lnTo>
                  <a:pt x="3732903" y="884880"/>
                </a:lnTo>
                <a:lnTo>
                  <a:pt x="0" y="88488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8999" y="6112117"/>
            <a:ext cx="3603980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9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462950" y="6498885"/>
            <a:ext cx="351607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Районов под наблюдением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4230007" y="5968543"/>
            <a:ext cx="3732903" cy="884880"/>
          </a:xfrm>
          <a:custGeom>
            <a:avLst/>
            <a:gdLst/>
            <a:ahLst/>
            <a:cxnLst/>
            <a:rect l="l" t="t" r="r" b="b"/>
            <a:pathLst>
              <a:path w="3732903" h="884880">
                <a:moveTo>
                  <a:pt x="0" y="0"/>
                </a:moveTo>
                <a:lnTo>
                  <a:pt x="3732903" y="0"/>
                </a:lnTo>
                <a:lnTo>
                  <a:pt x="3732903" y="884880"/>
                </a:lnTo>
                <a:lnTo>
                  <a:pt x="0" y="88488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94468" y="6112117"/>
            <a:ext cx="3603980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9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5с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4338419" y="6498885"/>
            <a:ext cx="351607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ответа ИИ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105475" y="5968543"/>
            <a:ext cx="3732903" cy="884880"/>
          </a:xfrm>
          <a:custGeom>
            <a:avLst/>
            <a:gdLst/>
            <a:ahLst/>
            <a:cxnLst/>
            <a:rect l="l" t="t" r="r" b="b"/>
            <a:pathLst>
              <a:path w="3732903" h="884880">
                <a:moveTo>
                  <a:pt x="0" y="0"/>
                </a:moveTo>
                <a:lnTo>
                  <a:pt x="3732903" y="0"/>
                </a:lnTo>
                <a:lnTo>
                  <a:pt x="3732903" y="884880"/>
                </a:lnTo>
                <a:lnTo>
                  <a:pt x="0" y="88488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69937" y="6112117"/>
            <a:ext cx="3603980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9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213888" y="6498885"/>
            <a:ext cx="351607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Мониторинг в реальном времени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4330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spc="294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ИИ-ДВИЖОК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04268"/>
            <a:ext cx="1169436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Система Приоритетов P1-P6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5452" y="1101901"/>
            <a:ext cx="11569959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Интеллектуальная классификация от критической до незначительной — каждый инцидент получает правильный ответ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224" y="1492898"/>
            <a:ext cx="7020175" cy="710904"/>
          </a:xfrm>
          <a:custGeom>
            <a:avLst/>
            <a:gdLst/>
            <a:ahLst/>
            <a:cxnLst/>
            <a:rect l="l" t="t" r="r" b="b"/>
            <a:pathLst>
              <a:path w="7020175" h="710904">
                <a:moveTo>
                  <a:pt x="0" y="0"/>
                </a:moveTo>
                <a:lnTo>
                  <a:pt x="7020175" y="0"/>
                </a:lnTo>
                <a:lnTo>
                  <a:pt x="702017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EF535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3224" y="1492898"/>
            <a:ext cx="35545" cy="710904"/>
          </a:xfrm>
          <a:custGeom>
            <a:avLst/>
            <a:gdLst/>
            <a:ahLst/>
            <a:cxnLst/>
            <a:rect l="l" t="t" r="r" b="b"/>
            <a:pathLst>
              <a:path w="35545" h="710904">
                <a:moveTo>
                  <a:pt x="0" y="0"/>
                </a:moveTo>
                <a:lnTo>
                  <a:pt x="35545" y="0"/>
                </a:lnTo>
                <a:lnTo>
                  <a:pt x="3554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7" name="Shape 5"/>
          <p:cNvSpPr/>
          <p:nvPr/>
        </p:nvSpPr>
        <p:spPr>
          <a:xfrm>
            <a:off x="497633" y="1599534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0" y="0"/>
                </a:moveTo>
                <a:lnTo>
                  <a:pt x="497633" y="0"/>
                </a:lnTo>
                <a:lnTo>
                  <a:pt x="497633" y="497633"/>
                </a:lnTo>
                <a:lnTo>
                  <a:pt x="0" y="497633"/>
                </a:lnTo>
                <a:lnTo>
                  <a:pt x="0" y="0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638703" y="1706169"/>
            <a:ext cx="319907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7446" y="1599534"/>
            <a:ext cx="114633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Критический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98219" y="1629156"/>
            <a:ext cx="5776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F53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&lt;15 мин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7446" y="1883895"/>
            <a:ext cx="6220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Потенциальные жертвы, угрожающие жизни ситуации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3224" y="2274892"/>
            <a:ext cx="7020175" cy="710904"/>
          </a:xfrm>
          <a:custGeom>
            <a:avLst/>
            <a:gdLst/>
            <a:ahLst/>
            <a:cxnLst/>
            <a:rect l="l" t="t" r="r" b="b"/>
            <a:pathLst>
              <a:path w="7020175" h="710904">
                <a:moveTo>
                  <a:pt x="0" y="0"/>
                </a:moveTo>
                <a:lnTo>
                  <a:pt x="7020175" y="0"/>
                </a:lnTo>
                <a:lnTo>
                  <a:pt x="702017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3224" y="2274892"/>
            <a:ext cx="35545" cy="710904"/>
          </a:xfrm>
          <a:custGeom>
            <a:avLst/>
            <a:gdLst/>
            <a:ahLst/>
            <a:cxnLst/>
            <a:rect l="l" t="t" r="r" b="b"/>
            <a:pathLst>
              <a:path w="35545" h="710904">
                <a:moveTo>
                  <a:pt x="0" y="0"/>
                </a:moveTo>
                <a:lnTo>
                  <a:pt x="35545" y="0"/>
                </a:lnTo>
                <a:lnTo>
                  <a:pt x="3554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4" name="Shape 12"/>
          <p:cNvSpPr/>
          <p:nvPr/>
        </p:nvSpPr>
        <p:spPr>
          <a:xfrm>
            <a:off x="497633" y="2381528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0" y="0"/>
                </a:moveTo>
                <a:lnTo>
                  <a:pt x="497633" y="0"/>
                </a:lnTo>
                <a:lnTo>
                  <a:pt x="497633" y="497633"/>
                </a:lnTo>
                <a:lnTo>
                  <a:pt x="0" y="497633"/>
                </a:lnTo>
                <a:lnTo>
                  <a:pt x="0" y="0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5" name="Text 13"/>
          <p:cNvSpPr/>
          <p:nvPr/>
        </p:nvSpPr>
        <p:spPr>
          <a:xfrm>
            <a:off x="619356" y="2488163"/>
            <a:ext cx="36433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7446" y="2381528"/>
            <a:ext cx="1119673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Финансовый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75448" y="2411150"/>
            <a:ext cx="6131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&lt;30 мин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7446" y="2665889"/>
            <a:ext cx="6220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Серьезный экономический ущерб, потеря выручки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3224" y="3056886"/>
            <a:ext cx="7020175" cy="710904"/>
          </a:xfrm>
          <a:custGeom>
            <a:avLst/>
            <a:gdLst/>
            <a:ahLst/>
            <a:cxnLst/>
            <a:rect l="l" t="t" r="r" b="b"/>
            <a:pathLst>
              <a:path w="7020175" h="710904">
                <a:moveTo>
                  <a:pt x="0" y="0"/>
                </a:moveTo>
                <a:lnTo>
                  <a:pt x="7020175" y="0"/>
                </a:lnTo>
                <a:lnTo>
                  <a:pt x="702017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FFA726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3224" y="3056886"/>
            <a:ext cx="35545" cy="710904"/>
          </a:xfrm>
          <a:custGeom>
            <a:avLst/>
            <a:gdLst/>
            <a:ahLst/>
            <a:cxnLst/>
            <a:rect l="l" t="t" r="r" b="b"/>
            <a:pathLst>
              <a:path w="35545" h="710904">
                <a:moveTo>
                  <a:pt x="0" y="0"/>
                </a:moveTo>
                <a:lnTo>
                  <a:pt x="35545" y="0"/>
                </a:lnTo>
                <a:lnTo>
                  <a:pt x="3554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1" name="Shape 19"/>
          <p:cNvSpPr/>
          <p:nvPr/>
        </p:nvSpPr>
        <p:spPr>
          <a:xfrm>
            <a:off x="497633" y="3163522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0" y="0"/>
                </a:moveTo>
                <a:lnTo>
                  <a:pt x="497633" y="0"/>
                </a:lnTo>
                <a:lnTo>
                  <a:pt x="497633" y="497633"/>
                </a:lnTo>
                <a:lnTo>
                  <a:pt x="0" y="497633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2" name="Text 20"/>
          <p:cNvSpPr/>
          <p:nvPr/>
        </p:nvSpPr>
        <p:spPr>
          <a:xfrm>
            <a:off x="618431" y="3270157"/>
            <a:ext cx="36433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7446" y="3163522"/>
            <a:ext cx="5154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68032" y="3193144"/>
            <a:ext cx="4532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FA7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 час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7446" y="3447883"/>
            <a:ext cx="6220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Перерыв в обслуживании, риски безопасности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3224" y="3838880"/>
            <a:ext cx="7020175" cy="710904"/>
          </a:xfrm>
          <a:custGeom>
            <a:avLst/>
            <a:gdLst/>
            <a:ahLst/>
            <a:cxnLst/>
            <a:rect l="l" t="t" r="r" b="b"/>
            <a:pathLst>
              <a:path w="7020175" h="710904">
                <a:moveTo>
                  <a:pt x="0" y="0"/>
                </a:moveTo>
                <a:lnTo>
                  <a:pt x="7020175" y="0"/>
                </a:lnTo>
                <a:lnTo>
                  <a:pt x="702017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73224" y="3838880"/>
            <a:ext cx="35545" cy="710904"/>
          </a:xfrm>
          <a:custGeom>
            <a:avLst/>
            <a:gdLst/>
            <a:ahLst/>
            <a:cxnLst/>
            <a:rect l="l" t="t" r="r" b="b"/>
            <a:pathLst>
              <a:path w="35545" h="710904">
                <a:moveTo>
                  <a:pt x="0" y="0"/>
                </a:moveTo>
                <a:lnTo>
                  <a:pt x="35545" y="0"/>
                </a:lnTo>
                <a:lnTo>
                  <a:pt x="3554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8" name="Shape 26"/>
          <p:cNvSpPr/>
          <p:nvPr/>
        </p:nvSpPr>
        <p:spPr>
          <a:xfrm>
            <a:off x="497633" y="3945516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0" y="0"/>
                </a:moveTo>
                <a:lnTo>
                  <a:pt x="497633" y="0"/>
                </a:lnTo>
                <a:lnTo>
                  <a:pt x="497633" y="497633"/>
                </a:lnTo>
                <a:lnTo>
                  <a:pt x="0" y="497633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9" name="Text 27"/>
          <p:cNvSpPr/>
          <p:nvPr/>
        </p:nvSpPr>
        <p:spPr>
          <a:xfrm>
            <a:off x="618523" y="4052152"/>
            <a:ext cx="36433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7446" y="3945516"/>
            <a:ext cx="133294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Экологический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485757" y="3975138"/>
            <a:ext cx="550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&lt;4 часа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7446" y="4229878"/>
            <a:ext cx="6220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Риск для здоровья, загрязнение, качество воздуха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73224" y="4620875"/>
            <a:ext cx="7020175" cy="710904"/>
          </a:xfrm>
          <a:custGeom>
            <a:avLst/>
            <a:gdLst/>
            <a:ahLst/>
            <a:cxnLst/>
            <a:rect l="l" t="t" r="r" b="b"/>
            <a:pathLst>
              <a:path w="7020175" h="710904">
                <a:moveTo>
                  <a:pt x="0" y="0"/>
                </a:moveTo>
                <a:lnTo>
                  <a:pt x="7020175" y="0"/>
                </a:lnTo>
                <a:lnTo>
                  <a:pt x="702017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66BB6A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73224" y="4620875"/>
            <a:ext cx="35545" cy="710904"/>
          </a:xfrm>
          <a:custGeom>
            <a:avLst/>
            <a:gdLst/>
            <a:ahLst/>
            <a:cxnLst/>
            <a:rect l="l" t="t" r="r" b="b"/>
            <a:pathLst>
              <a:path w="35545" h="710904">
                <a:moveTo>
                  <a:pt x="0" y="0"/>
                </a:moveTo>
                <a:lnTo>
                  <a:pt x="35545" y="0"/>
                </a:lnTo>
                <a:lnTo>
                  <a:pt x="3554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35" name="Shape 33"/>
          <p:cNvSpPr/>
          <p:nvPr/>
        </p:nvSpPr>
        <p:spPr>
          <a:xfrm>
            <a:off x="497633" y="4727510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0" y="0"/>
                </a:moveTo>
                <a:lnTo>
                  <a:pt x="497633" y="0"/>
                </a:lnTo>
                <a:lnTo>
                  <a:pt x="497633" y="497633"/>
                </a:lnTo>
                <a:lnTo>
                  <a:pt x="0" y="497633"/>
                </a:lnTo>
                <a:lnTo>
                  <a:pt x="0" y="0"/>
                </a:ln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12" y="4834146"/>
            <a:ext cx="35545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7446" y="4727510"/>
            <a:ext cx="131517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Операционный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472427" y="4757133"/>
            <a:ext cx="6398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66BB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&lt;24 часа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7446" y="5011872"/>
            <a:ext cx="6220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Вопросы эффективности, оптимизация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3224" y="5402869"/>
            <a:ext cx="7020175" cy="710904"/>
          </a:xfrm>
          <a:custGeom>
            <a:avLst/>
            <a:gdLst/>
            <a:ahLst/>
            <a:cxnLst/>
            <a:rect l="l" t="t" r="r" b="b"/>
            <a:pathLst>
              <a:path w="7020175" h="710904">
                <a:moveTo>
                  <a:pt x="0" y="0"/>
                </a:moveTo>
                <a:lnTo>
                  <a:pt x="7020175" y="0"/>
                </a:lnTo>
                <a:lnTo>
                  <a:pt x="702017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3224" y="5402869"/>
            <a:ext cx="35545" cy="710904"/>
          </a:xfrm>
          <a:custGeom>
            <a:avLst/>
            <a:gdLst/>
            <a:ahLst/>
            <a:cxnLst/>
            <a:rect l="l" t="t" r="r" b="b"/>
            <a:pathLst>
              <a:path w="35545" h="710904">
                <a:moveTo>
                  <a:pt x="0" y="0"/>
                </a:moveTo>
                <a:lnTo>
                  <a:pt x="35545" y="0"/>
                </a:lnTo>
                <a:lnTo>
                  <a:pt x="35545" y="710904"/>
                </a:lnTo>
                <a:lnTo>
                  <a:pt x="0" y="710904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2" name="Shape 40"/>
          <p:cNvSpPr/>
          <p:nvPr/>
        </p:nvSpPr>
        <p:spPr>
          <a:xfrm>
            <a:off x="497633" y="5509504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0" y="0"/>
                </a:moveTo>
                <a:lnTo>
                  <a:pt x="497633" y="0"/>
                </a:lnTo>
                <a:lnTo>
                  <a:pt x="497633" y="497633"/>
                </a:lnTo>
                <a:lnTo>
                  <a:pt x="0" y="497633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3" name="Text 41"/>
          <p:cNvSpPr/>
          <p:nvPr/>
        </p:nvSpPr>
        <p:spPr>
          <a:xfrm>
            <a:off x="617598" y="5616140"/>
            <a:ext cx="36433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7446" y="5509504"/>
            <a:ext cx="1457353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Незначительный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609239" y="5539127"/>
            <a:ext cx="6309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Планово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7446" y="5793866"/>
            <a:ext cx="6220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Техническое обслуживание, мелкие проблемы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77975" y="1495860"/>
            <a:ext cx="4262461" cy="3213878"/>
          </a:xfrm>
          <a:custGeom>
            <a:avLst/>
            <a:gdLst/>
            <a:ahLst/>
            <a:cxnLst/>
            <a:rect l="l" t="t" r="r" b="b"/>
            <a:pathLst>
              <a:path w="4262461" h="3213878">
                <a:moveTo>
                  <a:pt x="0" y="0"/>
                </a:moveTo>
                <a:lnTo>
                  <a:pt x="4262461" y="0"/>
                </a:lnTo>
                <a:lnTo>
                  <a:pt x="4262461" y="3213878"/>
                </a:lnTo>
                <a:lnTo>
                  <a:pt x="0" y="3213878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58663" y="1676549"/>
            <a:ext cx="3989948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ML-Модели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758663" y="2067546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0" y="0"/>
                </a:moveTo>
                <a:lnTo>
                  <a:pt x="284362" y="0"/>
                </a:lnTo>
                <a:lnTo>
                  <a:pt x="284362" y="284362"/>
                </a:lnTo>
                <a:lnTo>
                  <a:pt x="0" y="28436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0" name="Text 48"/>
          <p:cNvSpPr/>
          <p:nvPr/>
        </p:nvSpPr>
        <p:spPr>
          <a:xfrm>
            <a:off x="7723118" y="2067546"/>
            <a:ext cx="35545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49661" y="2067546"/>
            <a:ext cx="26747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 Данных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49661" y="2280817"/>
            <a:ext cx="2665889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датчики, API, Telegram бот, ручные отчеты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758663" y="2565179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0" y="0"/>
                </a:moveTo>
                <a:lnTo>
                  <a:pt x="284362" y="0"/>
                </a:lnTo>
                <a:lnTo>
                  <a:pt x="284362" y="284362"/>
                </a:lnTo>
                <a:lnTo>
                  <a:pt x="0" y="28436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4" name="Text 52"/>
          <p:cNvSpPr/>
          <p:nvPr/>
        </p:nvSpPr>
        <p:spPr>
          <a:xfrm>
            <a:off x="7723118" y="2565179"/>
            <a:ext cx="35545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49661" y="2565179"/>
            <a:ext cx="16617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Обнаружение Аномалий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49661" y="2778450"/>
            <a:ext cx="1652851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на Hugging Face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758663" y="3062811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0" y="0"/>
                </a:moveTo>
                <a:lnTo>
                  <a:pt x="284362" y="0"/>
                </a:lnTo>
                <a:lnTo>
                  <a:pt x="284362" y="284362"/>
                </a:lnTo>
                <a:lnTo>
                  <a:pt x="0" y="28436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8" name="Text 56"/>
          <p:cNvSpPr/>
          <p:nvPr/>
        </p:nvSpPr>
        <p:spPr>
          <a:xfrm>
            <a:off x="7723118" y="3062811"/>
            <a:ext cx="35545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149661" y="3062811"/>
            <a:ext cx="20616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Классификация Приоритетов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49661" y="3276082"/>
            <a:ext cx="205273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Нейросеть назначает оценку P1-P6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758663" y="3560444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0" y="0"/>
                </a:moveTo>
                <a:lnTo>
                  <a:pt x="284362" y="0"/>
                </a:lnTo>
                <a:lnTo>
                  <a:pt x="284362" y="284362"/>
                </a:lnTo>
                <a:lnTo>
                  <a:pt x="0" y="28436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2" name="Text 60"/>
          <p:cNvSpPr/>
          <p:nvPr/>
        </p:nvSpPr>
        <p:spPr>
          <a:xfrm>
            <a:off x="7723118" y="3560444"/>
            <a:ext cx="35545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149661" y="3560444"/>
            <a:ext cx="19727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Действий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149661" y="3773715"/>
            <a:ext cx="196387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Конкретные рекомендации с ETA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758663" y="4058077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0" y="0"/>
                </a:moveTo>
                <a:lnTo>
                  <a:pt x="284362" y="0"/>
                </a:lnTo>
                <a:lnTo>
                  <a:pt x="284362" y="284362"/>
                </a:lnTo>
                <a:lnTo>
                  <a:pt x="0" y="28436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6" name="Text 64"/>
          <p:cNvSpPr/>
          <p:nvPr/>
        </p:nvSpPr>
        <p:spPr>
          <a:xfrm>
            <a:off x="7723118" y="4058077"/>
            <a:ext cx="35545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149661" y="4058077"/>
            <a:ext cx="22126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Диспетчеризации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149661" y="4271348"/>
            <a:ext cx="220380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Прямой канал к экстренным службам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577975" y="4860805"/>
            <a:ext cx="4262461" cy="1250006"/>
          </a:xfrm>
          <a:custGeom>
            <a:avLst/>
            <a:gdLst/>
            <a:ahLst/>
            <a:cxnLst/>
            <a:rect l="l" t="t" r="r" b="b"/>
            <a:pathLst>
              <a:path w="4262461" h="1250006">
                <a:moveTo>
                  <a:pt x="0" y="0"/>
                </a:moveTo>
                <a:lnTo>
                  <a:pt x="4262461" y="0"/>
                </a:lnTo>
                <a:lnTo>
                  <a:pt x="4262461" y="1250006"/>
                </a:lnTo>
                <a:lnTo>
                  <a:pt x="0" y="1250006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23118" y="5005949"/>
            <a:ext cx="405215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Технические Особенности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748666" y="5388060"/>
            <a:ext cx="108857" cy="124408"/>
          </a:xfrm>
          <a:custGeom>
            <a:avLst/>
            <a:gdLst/>
            <a:ahLst/>
            <a:cxnLst/>
            <a:rect l="l" t="t" r="r" b="b"/>
            <a:pathLst>
              <a:path w="108857" h="124408">
                <a:moveTo>
                  <a:pt x="105650" y="17033"/>
                </a:moveTo>
                <a:cubicBezTo>
                  <a:pt x="109124" y="19560"/>
                  <a:pt x="109902" y="24420"/>
                  <a:pt x="107375" y="27895"/>
                </a:cubicBezTo>
                <a:lnTo>
                  <a:pt x="45171" y="113425"/>
                </a:lnTo>
                <a:cubicBezTo>
                  <a:pt x="43834" y="115272"/>
                  <a:pt x="41769" y="116414"/>
                  <a:pt x="39485" y="116608"/>
                </a:cubicBezTo>
                <a:cubicBezTo>
                  <a:pt x="37201" y="116803"/>
                  <a:pt x="34990" y="115952"/>
                  <a:pt x="33386" y="114349"/>
                </a:cubicBezTo>
                <a:lnTo>
                  <a:pt x="2284" y="83247"/>
                </a:lnTo>
                <a:cubicBezTo>
                  <a:pt x="-753" y="80209"/>
                  <a:pt x="-753" y="75277"/>
                  <a:pt x="2284" y="72239"/>
                </a:cubicBezTo>
                <a:cubicBezTo>
                  <a:pt x="5321" y="69202"/>
                  <a:pt x="10254" y="69202"/>
                  <a:pt x="13291" y="72239"/>
                </a:cubicBezTo>
                <a:lnTo>
                  <a:pt x="37954" y="96902"/>
                </a:lnTo>
                <a:lnTo>
                  <a:pt x="94813" y="18734"/>
                </a:lnTo>
                <a:cubicBezTo>
                  <a:pt x="97340" y="15259"/>
                  <a:pt x="102199" y="14482"/>
                  <a:pt x="105674" y="170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2" name="Text 70"/>
          <p:cNvSpPr/>
          <p:nvPr/>
        </p:nvSpPr>
        <p:spPr>
          <a:xfrm>
            <a:off x="7949719" y="5361401"/>
            <a:ext cx="151955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Собственные ML-модели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768818" y="5388060"/>
            <a:ext cx="108857" cy="124408"/>
          </a:xfrm>
          <a:custGeom>
            <a:avLst/>
            <a:gdLst/>
            <a:ahLst/>
            <a:cxnLst/>
            <a:rect l="l" t="t" r="r" b="b"/>
            <a:pathLst>
              <a:path w="108857" h="124408">
                <a:moveTo>
                  <a:pt x="105650" y="17033"/>
                </a:moveTo>
                <a:cubicBezTo>
                  <a:pt x="109124" y="19560"/>
                  <a:pt x="109902" y="24420"/>
                  <a:pt x="107375" y="27895"/>
                </a:cubicBezTo>
                <a:lnTo>
                  <a:pt x="45171" y="113425"/>
                </a:lnTo>
                <a:cubicBezTo>
                  <a:pt x="43834" y="115272"/>
                  <a:pt x="41769" y="116414"/>
                  <a:pt x="39485" y="116608"/>
                </a:cubicBezTo>
                <a:cubicBezTo>
                  <a:pt x="37201" y="116803"/>
                  <a:pt x="34990" y="115952"/>
                  <a:pt x="33386" y="114349"/>
                </a:cubicBezTo>
                <a:lnTo>
                  <a:pt x="2284" y="83247"/>
                </a:lnTo>
                <a:cubicBezTo>
                  <a:pt x="-753" y="80209"/>
                  <a:pt x="-753" y="75277"/>
                  <a:pt x="2284" y="72239"/>
                </a:cubicBezTo>
                <a:cubicBezTo>
                  <a:pt x="5321" y="69202"/>
                  <a:pt x="10254" y="69202"/>
                  <a:pt x="13291" y="72239"/>
                </a:cubicBezTo>
                <a:lnTo>
                  <a:pt x="37954" y="96902"/>
                </a:lnTo>
                <a:lnTo>
                  <a:pt x="94813" y="18734"/>
                </a:lnTo>
                <a:cubicBezTo>
                  <a:pt x="97340" y="15259"/>
                  <a:pt x="102199" y="14482"/>
                  <a:pt x="105674" y="170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4" name="Text 72"/>
          <p:cNvSpPr/>
          <p:nvPr/>
        </p:nvSpPr>
        <p:spPr>
          <a:xfrm>
            <a:off x="9969870" y="5361401"/>
            <a:ext cx="127962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Обработка &lt;5 секунд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744223" y="5725739"/>
            <a:ext cx="108857" cy="124408"/>
          </a:xfrm>
          <a:custGeom>
            <a:avLst/>
            <a:gdLst/>
            <a:ahLst/>
            <a:cxnLst/>
            <a:rect l="l" t="t" r="r" b="b"/>
            <a:pathLst>
              <a:path w="108857" h="124408">
                <a:moveTo>
                  <a:pt x="105650" y="17033"/>
                </a:moveTo>
                <a:cubicBezTo>
                  <a:pt x="109124" y="19560"/>
                  <a:pt x="109902" y="24420"/>
                  <a:pt x="107375" y="27895"/>
                </a:cubicBezTo>
                <a:lnTo>
                  <a:pt x="45171" y="113425"/>
                </a:lnTo>
                <a:cubicBezTo>
                  <a:pt x="43834" y="115272"/>
                  <a:pt x="41769" y="116414"/>
                  <a:pt x="39485" y="116608"/>
                </a:cubicBezTo>
                <a:cubicBezTo>
                  <a:pt x="37201" y="116803"/>
                  <a:pt x="34990" y="115952"/>
                  <a:pt x="33386" y="114349"/>
                </a:cubicBezTo>
                <a:lnTo>
                  <a:pt x="2284" y="83247"/>
                </a:lnTo>
                <a:cubicBezTo>
                  <a:pt x="-753" y="80209"/>
                  <a:pt x="-753" y="75277"/>
                  <a:pt x="2284" y="72239"/>
                </a:cubicBezTo>
                <a:cubicBezTo>
                  <a:pt x="5321" y="69202"/>
                  <a:pt x="10254" y="69202"/>
                  <a:pt x="13291" y="72239"/>
                </a:cubicBezTo>
                <a:lnTo>
                  <a:pt x="37954" y="96902"/>
                </a:lnTo>
                <a:lnTo>
                  <a:pt x="94813" y="18734"/>
                </a:lnTo>
                <a:cubicBezTo>
                  <a:pt x="97340" y="15259"/>
                  <a:pt x="102199" y="14482"/>
                  <a:pt x="105674" y="170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6" name="Text 74"/>
          <p:cNvSpPr/>
          <p:nvPr/>
        </p:nvSpPr>
        <p:spPr>
          <a:xfrm>
            <a:off x="7946664" y="5610217"/>
            <a:ext cx="1786146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Telegram-бот для диспетчеров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768818" y="5725739"/>
            <a:ext cx="108857" cy="124408"/>
          </a:xfrm>
          <a:custGeom>
            <a:avLst/>
            <a:gdLst/>
            <a:ahLst/>
            <a:cxnLst/>
            <a:rect l="l" t="t" r="r" b="b"/>
            <a:pathLst>
              <a:path w="108857" h="124408">
                <a:moveTo>
                  <a:pt x="105650" y="17033"/>
                </a:moveTo>
                <a:cubicBezTo>
                  <a:pt x="109124" y="19560"/>
                  <a:pt x="109902" y="24420"/>
                  <a:pt x="107375" y="27895"/>
                </a:cubicBezTo>
                <a:lnTo>
                  <a:pt x="45171" y="113425"/>
                </a:lnTo>
                <a:cubicBezTo>
                  <a:pt x="43834" y="115272"/>
                  <a:pt x="41769" y="116414"/>
                  <a:pt x="39485" y="116608"/>
                </a:cubicBezTo>
                <a:cubicBezTo>
                  <a:pt x="37201" y="116803"/>
                  <a:pt x="34990" y="115952"/>
                  <a:pt x="33386" y="114349"/>
                </a:cubicBezTo>
                <a:lnTo>
                  <a:pt x="2284" y="83247"/>
                </a:lnTo>
                <a:cubicBezTo>
                  <a:pt x="-753" y="80209"/>
                  <a:pt x="-753" y="75277"/>
                  <a:pt x="2284" y="72239"/>
                </a:cubicBezTo>
                <a:cubicBezTo>
                  <a:pt x="5321" y="69202"/>
                  <a:pt x="10254" y="69202"/>
                  <a:pt x="13291" y="72239"/>
                </a:cubicBezTo>
                <a:lnTo>
                  <a:pt x="37954" y="96902"/>
                </a:lnTo>
                <a:lnTo>
                  <a:pt x="94813" y="18734"/>
                </a:lnTo>
                <a:cubicBezTo>
                  <a:pt x="97340" y="15259"/>
                  <a:pt x="102199" y="14482"/>
                  <a:pt x="105674" y="170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8" name="Text 76"/>
          <p:cNvSpPr/>
          <p:nvPr/>
        </p:nvSpPr>
        <p:spPr>
          <a:xfrm>
            <a:off x="9969870" y="5699080"/>
            <a:ext cx="159953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Казахский и русский языки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73224" y="6220408"/>
            <a:ext cx="11463324" cy="639813"/>
          </a:xfrm>
          <a:custGeom>
            <a:avLst/>
            <a:gdLst/>
            <a:ahLst/>
            <a:cxnLst/>
            <a:rect l="l" t="t" r="r" b="b"/>
            <a:pathLst>
              <a:path w="11463324" h="639813">
                <a:moveTo>
                  <a:pt x="0" y="0"/>
                </a:moveTo>
                <a:lnTo>
                  <a:pt x="11463324" y="0"/>
                </a:lnTo>
                <a:lnTo>
                  <a:pt x="11463324" y="639813"/>
                </a:lnTo>
                <a:lnTo>
                  <a:pt x="0" y="639813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73224" y="6220408"/>
            <a:ext cx="35545" cy="639813"/>
          </a:xfrm>
          <a:custGeom>
            <a:avLst/>
            <a:gdLst/>
            <a:ahLst/>
            <a:cxnLst/>
            <a:rect l="l" t="t" r="r" b="b"/>
            <a:pathLst>
              <a:path w="35545" h="639813">
                <a:moveTo>
                  <a:pt x="0" y="0"/>
                </a:moveTo>
                <a:lnTo>
                  <a:pt x="35545" y="0"/>
                </a:lnTo>
                <a:lnTo>
                  <a:pt x="35545" y="639813"/>
                </a:lnTo>
                <a:lnTo>
                  <a:pt x="0" y="639813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1" name="Text 79"/>
          <p:cNvSpPr/>
          <p:nvPr/>
        </p:nvSpPr>
        <p:spPr>
          <a:xfrm>
            <a:off x="497633" y="6327044"/>
            <a:ext cx="11303370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Инновация:</a:t>
            </a:r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Система P1-P6 превращает хаотичные отчеты об инцидентах в структурированную, действенную информацию — гарантируя, что критические проблемы никогда не затеряются в шуме.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8156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spc="277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ТЕХНИЧЕСКАЯ АРХИТЕКТУРА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568626"/>
            <a:ext cx="11723720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Системная Архитектура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486" y="1036905"/>
            <a:ext cx="11606650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Сквозной конвейер от датчика к действию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848" y="1413202"/>
            <a:ext cx="2324675" cy="2993646"/>
          </a:xfrm>
          <a:custGeom>
            <a:avLst/>
            <a:gdLst/>
            <a:ahLst/>
            <a:cxnLst/>
            <a:rect l="l" t="t" r="r" b="b"/>
            <a:pathLst>
              <a:path w="2324675" h="2993646">
                <a:moveTo>
                  <a:pt x="0" y="0"/>
                </a:moveTo>
                <a:lnTo>
                  <a:pt x="2324675" y="0"/>
                </a:lnTo>
                <a:lnTo>
                  <a:pt x="2324675" y="2993646"/>
                </a:lnTo>
                <a:lnTo>
                  <a:pt x="0" y="2993646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5004" y="1588807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0" y="0"/>
                </a:moveTo>
                <a:lnTo>
                  <a:pt x="401383" y="0"/>
                </a:lnTo>
                <a:lnTo>
                  <a:pt x="401383" y="401383"/>
                </a:lnTo>
                <a:lnTo>
                  <a:pt x="0" y="401383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12178" y="1705877"/>
            <a:ext cx="146337" cy="167243"/>
          </a:xfrm>
          <a:custGeom>
            <a:avLst/>
            <a:gdLst/>
            <a:ahLst/>
            <a:cxnLst/>
            <a:rect l="l" t="t" r="r" b="b"/>
            <a:pathLst>
              <a:path w="146337" h="167243">
                <a:moveTo>
                  <a:pt x="146337" y="67224"/>
                </a:moveTo>
                <a:cubicBezTo>
                  <a:pt x="141503" y="70425"/>
                  <a:pt x="135950" y="73005"/>
                  <a:pt x="130168" y="75063"/>
                </a:cubicBezTo>
                <a:cubicBezTo>
                  <a:pt x="114816" y="80551"/>
                  <a:pt x="94662" y="83621"/>
                  <a:pt x="73169" y="83621"/>
                </a:cubicBezTo>
                <a:cubicBezTo>
                  <a:pt x="51675" y="83621"/>
                  <a:pt x="31489" y="80518"/>
                  <a:pt x="16169" y="75063"/>
                </a:cubicBezTo>
                <a:cubicBezTo>
                  <a:pt x="10420" y="73005"/>
                  <a:pt x="4834" y="70425"/>
                  <a:pt x="0" y="67224"/>
                </a:cubicBezTo>
                <a:lnTo>
                  <a:pt x="0" y="94074"/>
                </a:lnTo>
                <a:cubicBezTo>
                  <a:pt x="0" y="108512"/>
                  <a:pt x="32763" y="120206"/>
                  <a:pt x="73169" y="120206"/>
                </a:cubicBezTo>
                <a:cubicBezTo>
                  <a:pt x="113575" y="120206"/>
                  <a:pt x="146337" y="108512"/>
                  <a:pt x="146337" y="94074"/>
                </a:cubicBezTo>
                <a:lnTo>
                  <a:pt x="146337" y="67224"/>
                </a:lnTo>
                <a:close/>
                <a:moveTo>
                  <a:pt x="146337" y="41811"/>
                </a:moveTo>
                <a:lnTo>
                  <a:pt x="146337" y="26132"/>
                </a:lnTo>
                <a:cubicBezTo>
                  <a:pt x="146337" y="11694"/>
                  <a:pt x="113575" y="0"/>
                  <a:pt x="73169" y="0"/>
                </a:cubicBezTo>
                <a:cubicBezTo>
                  <a:pt x="32763" y="0"/>
                  <a:pt x="0" y="11694"/>
                  <a:pt x="0" y="26132"/>
                </a:cubicBezTo>
                <a:lnTo>
                  <a:pt x="0" y="41811"/>
                </a:lnTo>
                <a:cubicBezTo>
                  <a:pt x="0" y="56248"/>
                  <a:pt x="32763" y="67942"/>
                  <a:pt x="73169" y="67942"/>
                </a:cubicBezTo>
                <a:cubicBezTo>
                  <a:pt x="113575" y="67942"/>
                  <a:pt x="146337" y="56248"/>
                  <a:pt x="146337" y="41811"/>
                </a:cubicBezTo>
                <a:close/>
                <a:moveTo>
                  <a:pt x="130168" y="127327"/>
                </a:moveTo>
                <a:cubicBezTo>
                  <a:pt x="114849" y="132782"/>
                  <a:pt x="94695" y="135885"/>
                  <a:pt x="73169" y="135885"/>
                </a:cubicBezTo>
                <a:cubicBezTo>
                  <a:pt x="51643" y="135885"/>
                  <a:pt x="31489" y="132782"/>
                  <a:pt x="16169" y="127327"/>
                </a:cubicBezTo>
                <a:cubicBezTo>
                  <a:pt x="10420" y="125269"/>
                  <a:pt x="4834" y="122688"/>
                  <a:pt x="0" y="119487"/>
                </a:cubicBezTo>
                <a:lnTo>
                  <a:pt x="0" y="141111"/>
                </a:lnTo>
                <a:cubicBezTo>
                  <a:pt x="0" y="155549"/>
                  <a:pt x="32763" y="167243"/>
                  <a:pt x="73169" y="167243"/>
                </a:cubicBezTo>
                <a:cubicBezTo>
                  <a:pt x="113575" y="167243"/>
                  <a:pt x="146337" y="155549"/>
                  <a:pt x="146337" y="141111"/>
                </a:cubicBezTo>
                <a:lnTo>
                  <a:pt x="146337" y="119487"/>
                </a:lnTo>
                <a:cubicBezTo>
                  <a:pt x="141503" y="122688"/>
                  <a:pt x="135950" y="125269"/>
                  <a:pt x="130168" y="12732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986123" y="1555358"/>
            <a:ext cx="1622255" cy="46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Слой Сбора Данных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5004" y="2123984"/>
            <a:ext cx="2040362" cy="334486"/>
          </a:xfrm>
          <a:custGeom>
            <a:avLst/>
            <a:gdLst/>
            <a:ahLst/>
            <a:cxnLst/>
            <a:rect l="l" t="t" r="r" b="b"/>
            <a:pathLst>
              <a:path w="2040362" h="334486">
                <a:moveTo>
                  <a:pt x="0" y="0"/>
                </a:moveTo>
                <a:lnTo>
                  <a:pt x="2040362" y="0"/>
                </a:lnTo>
                <a:lnTo>
                  <a:pt x="2040362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8626" y="2224329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45992" y="6272"/>
                </a:moveTo>
                <a:cubicBezTo>
                  <a:pt x="45992" y="2796"/>
                  <a:pt x="43196" y="0"/>
                  <a:pt x="39720" y="0"/>
                </a:cubicBezTo>
                <a:cubicBezTo>
                  <a:pt x="36245" y="0"/>
                  <a:pt x="33449" y="2796"/>
                  <a:pt x="33449" y="6272"/>
                </a:cubicBezTo>
                <a:lnTo>
                  <a:pt x="33449" y="16724"/>
                </a:lnTo>
                <a:cubicBezTo>
                  <a:pt x="24224" y="16724"/>
                  <a:pt x="16724" y="24224"/>
                  <a:pt x="16724" y="33449"/>
                </a:cubicBezTo>
                <a:lnTo>
                  <a:pt x="6272" y="33449"/>
                </a:lnTo>
                <a:cubicBezTo>
                  <a:pt x="2796" y="33449"/>
                  <a:pt x="0" y="36245"/>
                  <a:pt x="0" y="39720"/>
                </a:cubicBezTo>
                <a:cubicBezTo>
                  <a:pt x="0" y="43196"/>
                  <a:pt x="2796" y="45992"/>
                  <a:pt x="6272" y="45992"/>
                </a:cubicBezTo>
                <a:lnTo>
                  <a:pt x="16724" y="45992"/>
                </a:lnTo>
                <a:lnTo>
                  <a:pt x="16724" y="60626"/>
                </a:lnTo>
                <a:lnTo>
                  <a:pt x="6272" y="60626"/>
                </a:lnTo>
                <a:cubicBezTo>
                  <a:pt x="2796" y="60626"/>
                  <a:pt x="0" y="63422"/>
                  <a:pt x="0" y="66897"/>
                </a:cubicBezTo>
                <a:cubicBezTo>
                  <a:pt x="0" y="70373"/>
                  <a:pt x="2796" y="73169"/>
                  <a:pt x="6272" y="73169"/>
                </a:cubicBezTo>
                <a:lnTo>
                  <a:pt x="16724" y="73169"/>
                </a:lnTo>
                <a:lnTo>
                  <a:pt x="16724" y="87802"/>
                </a:lnTo>
                <a:lnTo>
                  <a:pt x="6272" y="87802"/>
                </a:lnTo>
                <a:cubicBezTo>
                  <a:pt x="2796" y="87802"/>
                  <a:pt x="0" y="90599"/>
                  <a:pt x="0" y="94074"/>
                </a:cubicBezTo>
                <a:cubicBezTo>
                  <a:pt x="0" y="97550"/>
                  <a:pt x="2796" y="100346"/>
                  <a:pt x="6272" y="100346"/>
                </a:cubicBezTo>
                <a:lnTo>
                  <a:pt x="16724" y="100346"/>
                </a:lnTo>
                <a:cubicBezTo>
                  <a:pt x="16724" y="109570"/>
                  <a:pt x="24224" y="117070"/>
                  <a:pt x="33449" y="117070"/>
                </a:cubicBezTo>
                <a:lnTo>
                  <a:pt x="33449" y="127523"/>
                </a:lnTo>
                <a:cubicBezTo>
                  <a:pt x="33449" y="130998"/>
                  <a:pt x="36245" y="133794"/>
                  <a:pt x="39720" y="133794"/>
                </a:cubicBezTo>
                <a:cubicBezTo>
                  <a:pt x="43196" y="133794"/>
                  <a:pt x="45992" y="130998"/>
                  <a:pt x="45992" y="127523"/>
                </a:cubicBezTo>
                <a:lnTo>
                  <a:pt x="45992" y="117070"/>
                </a:lnTo>
                <a:lnTo>
                  <a:pt x="60626" y="117070"/>
                </a:lnTo>
                <a:lnTo>
                  <a:pt x="60626" y="127523"/>
                </a:lnTo>
                <a:cubicBezTo>
                  <a:pt x="60626" y="130998"/>
                  <a:pt x="63422" y="133794"/>
                  <a:pt x="66897" y="133794"/>
                </a:cubicBezTo>
                <a:cubicBezTo>
                  <a:pt x="70373" y="133794"/>
                  <a:pt x="73169" y="130998"/>
                  <a:pt x="73169" y="127523"/>
                </a:cubicBezTo>
                <a:lnTo>
                  <a:pt x="73169" y="117070"/>
                </a:lnTo>
                <a:lnTo>
                  <a:pt x="87802" y="117070"/>
                </a:lnTo>
                <a:lnTo>
                  <a:pt x="87802" y="127523"/>
                </a:lnTo>
                <a:cubicBezTo>
                  <a:pt x="87802" y="130998"/>
                  <a:pt x="90599" y="133794"/>
                  <a:pt x="94074" y="133794"/>
                </a:cubicBezTo>
                <a:cubicBezTo>
                  <a:pt x="97550" y="133794"/>
                  <a:pt x="100346" y="130998"/>
                  <a:pt x="100346" y="127523"/>
                </a:cubicBezTo>
                <a:lnTo>
                  <a:pt x="100346" y="117070"/>
                </a:lnTo>
                <a:cubicBezTo>
                  <a:pt x="109570" y="117070"/>
                  <a:pt x="117070" y="109570"/>
                  <a:pt x="117070" y="100346"/>
                </a:cubicBezTo>
                <a:lnTo>
                  <a:pt x="127523" y="100346"/>
                </a:lnTo>
                <a:cubicBezTo>
                  <a:pt x="130998" y="100346"/>
                  <a:pt x="133794" y="97550"/>
                  <a:pt x="133794" y="94074"/>
                </a:cubicBezTo>
                <a:cubicBezTo>
                  <a:pt x="133794" y="90599"/>
                  <a:pt x="130998" y="87802"/>
                  <a:pt x="127523" y="87802"/>
                </a:cubicBezTo>
                <a:lnTo>
                  <a:pt x="117070" y="87802"/>
                </a:lnTo>
                <a:lnTo>
                  <a:pt x="117070" y="73169"/>
                </a:lnTo>
                <a:lnTo>
                  <a:pt x="127523" y="73169"/>
                </a:lnTo>
                <a:cubicBezTo>
                  <a:pt x="130998" y="73169"/>
                  <a:pt x="133794" y="70373"/>
                  <a:pt x="133794" y="66897"/>
                </a:cubicBezTo>
                <a:cubicBezTo>
                  <a:pt x="133794" y="63422"/>
                  <a:pt x="130998" y="60626"/>
                  <a:pt x="127523" y="60626"/>
                </a:cubicBezTo>
                <a:lnTo>
                  <a:pt x="117070" y="60626"/>
                </a:lnTo>
                <a:lnTo>
                  <a:pt x="117070" y="45992"/>
                </a:lnTo>
                <a:lnTo>
                  <a:pt x="127523" y="45992"/>
                </a:lnTo>
                <a:cubicBezTo>
                  <a:pt x="130998" y="45992"/>
                  <a:pt x="133794" y="43196"/>
                  <a:pt x="133794" y="39720"/>
                </a:cubicBezTo>
                <a:cubicBezTo>
                  <a:pt x="133794" y="36245"/>
                  <a:pt x="130998" y="33449"/>
                  <a:pt x="127523" y="33449"/>
                </a:cubicBezTo>
                <a:lnTo>
                  <a:pt x="117070" y="33449"/>
                </a:lnTo>
                <a:cubicBezTo>
                  <a:pt x="117070" y="24224"/>
                  <a:pt x="109570" y="16724"/>
                  <a:pt x="100346" y="16724"/>
                </a:cubicBezTo>
                <a:lnTo>
                  <a:pt x="100346" y="6272"/>
                </a:lnTo>
                <a:cubicBezTo>
                  <a:pt x="100346" y="2796"/>
                  <a:pt x="97550" y="0"/>
                  <a:pt x="94074" y="0"/>
                </a:cubicBezTo>
                <a:cubicBezTo>
                  <a:pt x="90599" y="0"/>
                  <a:pt x="87802" y="2796"/>
                  <a:pt x="87802" y="6272"/>
                </a:cubicBezTo>
                <a:lnTo>
                  <a:pt x="87802" y="16724"/>
                </a:lnTo>
                <a:lnTo>
                  <a:pt x="73169" y="16724"/>
                </a:lnTo>
                <a:lnTo>
                  <a:pt x="73169" y="6272"/>
                </a:lnTo>
                <a:cubicBezTo>
                  <a:pt x="73169" y="2796"/>
                  <a:pt x="70373" y="0"/>
                  <a:pt x="66897" y="0"/>
                </a:cubicBezTo>
                <a:cubicBezTo>
                  <a:pt x="63422" y="0"/>
                  <a:pt x="60626" y="2796"/>
                  <a:pt x="60626" y="6272"/>
                </a:cubicBezTo>
                <a:lnTo>
                  <a:pt x="60626" y="16724"/>
                </a:lnTo>
                <a:lnTo>
                  <a:pt x="45992" y="16724"/>
                </a:lnTo>
                <a:lnTo>
                  <a:pt x="45992" y="6272"/>
                </a:lnTo>
                <a:close/>
                <a:moveTo>
                  <a:pt x="41811" y="33449"/>
                </a:moveTo>
                <a:lnTo>
                  <a:pt x="91984" y="33449"/>
                </a:lnTo>
                <a:cubicBezTo>
                  <a:pt x="96609" y="33449"/>
                  <a:pt x="100346" y="37185"/>
                  <a:pt x="100346" y="41811"/>
                </a:cubicBezTo>
                <a:lnTo>
                  <a:pt x="100346" y="91984"/>
                </a:lnTo>
                <a:cubicBezTo>
                  <a:pt x="100346" y="96609"/>
                  <a:pt x="96609" y="100346"/>
                  <a:pt x="91984" y="100346"/>
                </a:cubicBezTo>
                <a:lnTo>
                  <a:pt x="41811" y="100346"/>
                </a:lnTo>
                <a:cubicBezTo>
                  <a:pt x="37185" y="100346"/>
                  <a:pt x="33449" y="96609"/>
                  <a:pt x="33449" y="91984"/>
                </a:cubicBezTo>
                <a:lnTo>
                  <a:pt x="33449" y="41811"/>
                </a:lnTo>
                <a:cubicBezTo>
                  <a:pt x="33449" y="37185"/>
                  <a:pt x="37185" y="33449"/>
                  <a:pt x="41811" y="33449"/>
                </a:cubicBezTo>
                <a:close/>
                <a:moveTo>
                  <a:pt x="45992" y="45992"/>
                </a:moveTo>
                <a:lnTo>
                  <a:pt x="45992" y="87802"/>
                </a:lnTo>
                <a:lnTo>
                  <a:pt x="87802" y="87802"/>
                </a:lnTo>
                <a:lnTo>
                  <a:pt x="87802" y="45992"/>
                </a:lnTo>
                <a:lnTo>
                  <a:pt x="45992" y="4599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786041" y="2190881"/>
            <a:ext cx="79440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Датчики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5004" y="2525366"/>
            <a:ext cx="2040362" cy="334486"/>
          </a:xfrm>
          <a:custGeom>
            <a:avLst/>
            <a:gdLst/>
            <a:ahLst/>
            <a:cxnLst/>
            <a:rect l="l" t="t" r="r" b="b"/>
            <a:pathLst>
              <a:path w="2040362" h="334486">
                <a:moveTo>
                  <a:pt x="0" y="0"/>
                </a:moveTo>
                <a:lnTo>
                  <a:pt x="2040362" y="0"/>
                </a:lnTo>
                <a:lnTo>
                  <a:pt x="2040362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76988" y="2625712"/>
            <a:ext cx="117070" cy="133794"/>
          </a:xfrm>
          <a:custGeom>
            <a:avLst/>
            <a:gdLst/>
            <a:ahLst/>
            <a:cxnLst/>
            <a:rect l="l" t="t" r="r" b="b"/>
            <a:pathLst>
              <a:path w="117070" h="133794">
                <a:moveTo>
                  <a:pt x="33449" y="-8362"/>
                </a:moveTo>
                <a:cubicBezTo>
                  <a:pt x="38074" y="-8362"/>
                  <a:pt x="41811" y="-4625"/>
                  <a:pt x="41811" y="0"/>
                </a:cubicBezTo>
                <a:lnTo>
                  <a:pt x="41811" y="25086"/>
                </a:lnTo>
                <a:lnTo>
                  <a:pt x="75259" y="25086"/>
                </a:lnTo>
                <a:lnTo>
                  <a:pt x="75259" y="0"/>
                </a:lnTo>
                <a:cubicBezTo>
                  <a:pt x="75259" y="-4625"/>
                  <a:pt x="78996" y="-8362"/>
                  <a:pt x="83621" y="-8362"/>
                </a:cubicBezTo>
                <a:cubicBezTo>
                  <a:pt x="88247" y="-8362"/>
                  <a:pt x="91984" y="-4625"/>
                  <a:pt x="91984" y="0"/>
                </a:cubicBezTo>
                <a:lnTo>
                  <a:pt x="91984" y="25086"/>
                </a:lnTo>
                <a:lnTo>
                  <a:pt x="108708" y="25086"/>
                </a:lnTo>
                <a:cubicBezTo>
                  <a:pt x="113333" y="25086"/>
                  <a:pt x="117070" y="28823"/>
                  <a:pt x="117070" y="33449"/>
                </a:cubicBezTo>
                <a:cubicBezTo>
                  <a:pt x="117070" y="38074"/>
                  <a:pt x="113333" y="41811"/>
                  <a:pt x="108708" y="41811"/>
                </a:cubicBezTo>
                <a:lnTo>
                  <a:pt x="108708" y="58535"/>
                </a:lnTo>
                <a:cubicBezTo>
                  <a:pt x="108708" y="83386"/>
                  <a:pt x="90625" y="104030"/>
                  <a:pt x="66897" y="108002"/>
                </a:cubicBezTo>
                <a:lnTo>
                  <a:pt x="66897" y="125432"/>
                </a:lnTo>
                <a:cubicBezTo>
                  <a:pt x="66897" y="130057"/>
                  <a:pt x="63160" y="133794"/>
                  <a:pt x="58535" y="133794"/>
                </a:cubicBezTo>
                <a:cubicBezTo>
                  <a:pt x="53910" y="133794"/>
                  <a:pt x="50173" y="130057"/>
                  <a:pt x="50173" y="125432"/>
                </a:cubicBezTo>
                <a:lnTo>
                  <a:pt x="50173" y="108002"/>
                </a:lnTo>
                <a:cubicBezTo>
                  <a:pt x="26445" y="104030"/>
                  <a:pt x="8362" y="83386"/>
                  <a:pt x="8362" y="58535"/>
                </a:cubicBezTo>
                <a:lnTo>
                  <a:pt x="8362" y="41811"/>
                </a:lnTo>
                <a:cubicBezTo>
                  <a:pt x="3737" y="41811"/>
                  <a:pt x="0" y="38074"/>
                  <a:pt x="0" y="33449"/>
                </a:cubicBezTo>
                <a:cubicBezTo>
                  <a:pt x="0" y="28823"/>
                  <a:pt x="3737" y="25086"/>
                  <a:pt x="8362" y="25086"/>
                </a:cubicBezTo>
                <a:lnTo>
                  <a:pt x="25086" y="25086"/>
                </a:lnTo>
                <a:lnTo>
                  <a:pt x="25086" y="0"/>
                </a:lnTo>
                <a:cubicBezTo>
                  <a:pt x="25086" y="-4625"/>
                  <a:pt x="28823" y="-8362"/>
                  <a:pt x="33449" y="-836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2"/>
          <p:cNvSpPr/>
          <p:nvPr/>
        </p:nvSpPr>
        <p:spPr>
          <a:xfrm>
            <a:off x="786041" y="2592263"/>
            <a:ext cx="275951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5004" y="2926749"/>
            <a:ext cx="2040362" cy="334486"/>
          </a:xfrm>
          <a:custGeom>
            <a:avLst/>
            <a:gdLst/>
            <a:ahLst/>
            <a:cxnLst/>
            <a:rect l="l" t="t" r="r" b="b"/>
            <a:pathLst>
              <a:path w="2040362" h="334486">
                <a:moveTo>
                  <a:pt x="0" y="0"/>
                </a:moveTo>
                <a:lnTo>
                  <a:pt x="2040362" y="0"/>
                </a:lnTo>
                <a:lnTo>
                  <a:pt x="2040362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68626" y="3027095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2091"/>
                </a:moveTo>
                <a:cubicBezTo>
                  <a:pt x="31129" y="2091"/>
                  <a:pt x="2091" y="31129"/>
                  <a:pt x="2091" y="66897"/>
                </a:cubicBezTo>
                <a:cubicBezTo>
                  <a:pt x="2091" y="102665"/>
                  <a:pt x="31129" y="131704"/>
                  <a:pt x="66897" y="131704"/>
                </a:cubicBezTo>
                <a:cubicBezTo>
                  <a:pt x="102665" y="131704"/>
                  <a:pt x="131704" y="102665"/>
                  <a:pt x="131704" y="66897"/>
                </a:cubicBezTo>
                <a:cubicBezTo>
                  <a:pt x="131704" y="31129"/>
                  <a:pt x="102665" y="2091"/>
                  <a:pt x="66897" y="2091"/>
                </a:cubicBezTo>
                <a:close/>
                <a:moveTo>
                  <a:pt x="96949" y="46175"/>
                </a:moveTo>
                <a:cubicBezTo>
                  <a:pt x="95982" y="56418"/>
                  <a:pt x="91748" y="81296"/>
                  <a:pt x="89606" y="92767"/>
                </a:cubicBezTo>
                <a:cubicBezTo>
                  <a:pt x="88691" y="97628"/>
                  <a:pt x="86914" y="99248"/>
                  <a:pt x="85189" y="99405"/>
                </a:cubicBezTo>
                <a:cubicBezTo>
                  <a:pt x="81426" y="99745"/>
                  <a:pt x="78578" y="96922"/>
                  <a:pt x="74920" y="94518"/>
                </a:cubicBezTo>
                <a:cubicBezTo>
                  <a:pt x="69223" y="90781"/>
                  <a:pt x="65983" y="88456"/>
                  <a:pt x="60469" y="84797"/>
                </a:cubicBezTo>
                <a:cubicBezTo>
                  <a:pt x="54066" y="80590"/>
                  <a:pt x="58221" y="78264"/>
                  <a:pt x="61854" y="74475"/>
                </a:cubicBezTo>
                <a:cubicBezTo>
                  <a:pt x="62821" y="73482"/>
                  <a:pt x="79388" y="58404"/>
                  <a:pt x="79702" y="57045"/>
                </a:cubicBezTo>
                <a:cubicBezTo>
                  <a:pt x="79754" y="56863"/>
                  <a:pt x="79780" y="56235"/>
                  <a:pt x="79388" y="55896"/>
                </a:cubicBezTo>
                <a:cubicBezTo>
                  <a:pt x="78996" y="55556"/>
                  <a:pt x="78447" y="55687"/>
                  <a:pt x="78055" y="55765"/>
                </a:cubicBezTo>
                <a:cubicBezTo>
                  <a:pt x="77480" y="55896"/>
                  <a:pt x="68360" y="61906"/>
                  <a:pt x="50722" y="73822"/>
                </a:cubicBezTo>
                <a:cubicBezTo>
                  <a:pt x="48135" y="75599"/>
                  <a:pt x="45783" y="76461"/>
                  <a:pt x="43692" y="76409"/>
                </a:cubicBezTo>
                <a:cubicBezTo>
                  <a:pt x="41366" y="76357"/>
                  <a:pt x="36924" y="75102"/>
                  <a:pt x="33605" y="74031"/>
                </a:cubicBezTo>
                <a:cubicBezTo>
                  <a:pt x="29555" y="72724"/>
                  <a:pt x="26315" y="72019"/>
                  <a:pt x="26602" y="69772"/>
                </a:cubicBezTo>
                <a:cubicBezTo>
                  <a:pt x="26759" y="68596"/>
                  <a:pt x="28353" y="67420"/>
                  <a:pt x="31410" y="66192"/>
                </a:cubicBezTo>
                <a:cubicBezTo>
                  <a:pt x="50303" y="57960"/>
                  <a:pt x="62899" y="52525"/>
                  <a:pt x="69197" y="49912"/>
                </a:cubicBezTo>
                <a:cubicBezTo>
                  <a:pt x="87201" y="42438"/>
                  <a:pt x="90938" y="41131"/>
                  <a:pt x="93369" y="41079"/>
                </a:cubicBezTo>
                <a:cubicBezTo>
                  <a:pt x="93917" y="41079"/>
                  <a:pt x="95093" y="41210"/>
                  <a:pt x="95877" y="41837"/>
                </a:cubicBezTo>
                <a:cubicBezTo>
                  <a:pt x="96400" y="42281"/>
                  <a:pt x="96713" y="42908"/>
                  <a:pt x="96792" y="43588"/>
                </a:cubicBezTo>
                <a:cubicBezTo>
                  <a:pt x="96922" y="44424"/>
                  <a:pt x="96949" y="45286"/>
                  <a:pt x="96896" y="4614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786041" y="2993646"/>
            <a:ext cx="86966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Telegram Бот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5004" y="3328132"/>
            <a:ext cx="2040362" cy="334486"/>
          </a:xfrm>
          <a:custGeom>
            <a:avLst/>
            <a:gdLst/>
            <a:ahLst/>
            <a:cxnLst/>
            <a:rect l="l" t="t" r="r" b="b"/>
            <a:pathLst>
              <a:path w="2040362" h="334486">
                <a:moveTo>
                  <a:pt x="0" y="0"/>
                </a:moveTo>
                <a:lnTo>
                  <a:pt x="2040362" y="0"/>
                </a:lnTo>
                <a:lnTo>
                  <a:pt x="2040362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5350" y="3428477"/>
            <a:ext cx="100346" cy="133794"/>
          </a:xfrm>
          <a:custGeom>
            <a:avLst/>
            <a:gdLst/>
            <a:ahLst/>
            <a:cxnLst/>
            <a:rect l="l" t="t" r="r" b="b"/>
            <a:pathLst>
              <a:path w="100346" h="133794">
                <a:moveTo>
                  <a:pt x="0" y="16724"/>
                </a:moveTo>
                <a:cubicBezTo>
                  <a:pt x="0" y="7500"/>
                  <a:pt x="7500" y="0"/>
                  <a:pt x="16724" y="0"/>
                </a:cubicBezTo>
                <a:lnTo>
                  <a:pt x="55791" y="0"/>
                </a:lnTo>
                <a:cubicBezTo>
                  <a:pt x="60234" y="0"/>
                  <a:pt x="64493" y="1751"/>
                  <a:pt x="67629" y="4887"/>
                </a:cubicBezTo>
                <a:lnTo>
                  <a:pt x="95459" y="32743"/>
                </a:lnTo>
                <a:cubicBezTo>
                  <a:pt x="98595" y="35879"/>
                  <a:pt x="100346" y="40138"/>
                  <a:pt x="100346" y="44581"/>
                </a:cubicBezTo>
                <a:lnTo>
                  <a:pt x="100346" y="117070"/>
                </a:lnTo>
                <a:cubicBezTo>
                  <a:pt x="100346" y="126294"/>
                  <a:pt x="92846" y="133794"/>
                  <a:pt x="83621" y="133794"/>
                </a:cubicBezTo>
                <a:lnTo>
                  <a:pt x="16724" y="133794"/>
                </a:lnTo>
                <a:cubicBezTo>
                  <a:pt x="7500" y="133794"/>
                  <a:pt x="0" y="126294"/>
                  <a:pt x="0" y="117070"/>
                </a:cubicBezTo>
                <a:lnTo>
                  <a:pt x="0" y="16724"/>
                </a:lnTo>
                <a:close/>
                <a:moveTo>
                  <a:pt x="54354" y="15287"/>
                </a:moveTo>
                <a:lnTo>
                  <a:pt x="54354" y="39720"/>
                </a:lnTo>
                <a:cubicBezTo>
                  <a:pt x="54354" y="43196"/>
                  <a:pt x="57150" y="45992"/>
                  <a:pt x="60626" y="45992"/>
                </a:cubicBezTo>
                <a:lnTo>
                  <a:pt x="85059" y="45992"/>
                </a:lnTo>
                <a:lnTo>
                  <a:pt x="54354" y="15287"/>
                </a:lnTo>
                <a:close/>
                <a:moveTo>
                  <a:pt x="31358" y="66897"/>
                </a:moveTo>
                <a:cubicBezTo>
                  <a:pt x="27883" y="66897"/>
                  <a:pt x="25086" y="69693"/>
                  <a:pt x="25086" y="73169"/>
                </a:cubicBezTo>
                <a:cubicBezTo>
                  <a:pt x="25086" y="76644"/>
                  <a:pt x="27883" y="79440"/>
                  <a:pt x="31358" y="79440"/>
                </a:cubicBezTo>
                <a:lnTo>
                  <a:pt x="68988" y="79440"/>
                </a:lnTo>
                <a:cubicBezTo>
                  <a:pt x="72463" y="79440"/>
                  <a:pt x="75259" y="76644"/>
                  <a:pt x="75259" y="73169"/>
                </a:cubicBezTo>
                <a:cubicBezTo>
                  <a:pt x="75259" y="69693"/>
                  <a:pt x="72463" y="66897"/>
                  <a:pt x="68988" y="66897"/>
                </a:cubicBezTo>
                <a:lnTo>
                  <a:pt x="31358" y="66897"/>
                </a:lnTo>
                <a:close/>
                <a:moveTo>
                  <a:pt x="31358" y="91984"/>
                </a:moveTo>
                <a:cubicBezTo>
                  <a:pt x="27883" y="91984"/>
                  <a:pt x="25086" y="94780"/>
                  <a:pt x="25086" y="98255"/>
                </a:cubicBezTo>
                <a:cubicBezTo>
                  <a:pt x="25086" y="101731"/>
                  <a:pt x="27883" y="104527"/>
                  <a:pt x="31358" y="104527"/>
                </a:cubicBezTo>
                <a:lnTo>
                  <a:pt x="68988" y="104527"/>
                </a:lnTo>
                <a:cubicBezTo>
                  <a:pt x="72463" y="104527"/>
                  <a:pt x="75259" y="101731"/>
                  <a:pt x="75259" y="98255"/>
                </a:cubicBezTo>
                <a:cubicBezTo>
                  <a:pt x="75259" y="94780"/>
                  <a:pt x="72463" y="91984"/>
                  <a:pt x="68988" y="91984"/>
                </a:cubicBezTo>
                <a:lnTo>
                  <a:pt x="31358" y="9198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786041" y="3395029"/>
            <a:ext cx="100345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Ручные Отчеты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848" y="4523918"/>
            <a:ext cx="2324675" cy="2324675"/>
          </a:xfrm>
          <a:custGeom>
            <a:avLst/>
            <a:gdLst/>
            <a:ahLst/>
            <a:cxnLst/>
            <a:rect l="l" t="t" r="r" b="b"/>
            <a:pathLst>
              <a:path w="2324675" h="2324675">
                <a:moveTo>
                  <a:pt x="0" y="0"/>
                </a:moveTo>
                <a:lnTo>
                  <a:pt x="2324675" y="0"/>
                </a:lnTo>
                <a:lnTo>
                  <a:pt x="2324675" y="2324675"/>
                </a:lnTo>
                <a:lnTo>
                  <a:pt x="0" y="232467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 w="25400">
            <a:solidFill>
              <a:srgbClr val="5F6B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5004" y="4666074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0" y="0"/>
                </a:moveTo>
                <a:lnTo>
                  <a:pt x="401383" y="0"/>
                </a:lnTo>
                <a:lnTo>
                  <a:pt x="401383" y="401383"/>
                </a:lnTo>
                <a:lnTo>
                  <a:pt x="0" y="401383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23" name="Shape 21"/>
          <p:cNvSpPr/>
          <p:nvPr/>
        </p:nvSpPr>
        <p:spPr>
          <a:xfrm>
            <a:off x="602074" y="4783144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39198" y="18292"/>
                </a:moveTo>
                <a:cubicBezTo>
                  <a:pt x="39198" y="8199"/>
                  <a:pt x="47396" y="0"/>
                  <a:pt x="57490" y="0"/>
                </a:cubicBezTo>
                <a:lnTo>
                  <a:pt x="65329" y="0"/>
                </a:lnTo>
                <a:cubicBezTo>
                  <a:pt x="71111" y="0"/>
                  <a:pt x="75782" y="4671"/>
                  <a:pt x="75782" y="10453"/>
                </a:cubicBezTo>
                <a:lnTo>
                  <a:pt x="75782" y="156790"/>
                </a:lnTo>
                <a:cubicBezTo>
                  <a:pt x="75782" y="162572"/>
                  <a:pt x="71111" y="167243"/>
                  <a:pt x="65329" y="167243"/>
                </a:cubicBezTo>
                <a:lnTo>
                  <a:pt x="54877" y="167243"/>
                </a:lnTo>
                <a:cubicBezTo>
                  <a:pt x="45142" y="167243"/>
                  <a:pt x="36944" y="160579"/>
                  <a:pt x="34624" y="151564"/>
                </a:cubicBezTo>
                <a:cubicBezTo>
                  <a:pt x="34396" y="151564"/>
                  <a:pt x="34200" y="151564"/>
                  <a:pt x="33971" y="151564"/>
                </a:cubicBezTo>
                <a:cubicBezTo>
                  <a:pt x="19533" y="151564"/>
                  <a:pt x="7840" y="139870"/>
                  <a:pt x="7840" y="125432"/>
                </a:cubicBezTo>
                <a:cubicBezTo>
                  <a:pt x="7840" y="119552"/>
                  <a:pt x="9799" y="114130"/>
                  <a:pt x="13066" y="109753"/>
                </a:cubicBezTo>
                <a:cubicBezTo>
                  <a:pt x="6729" y="104984"/>
                  <a:pt x="2613" y="97406"/>
                  <a:pt x="2613" y="88848"/>
                </a:cubicBezTo>
                <a:cubicBezTo>
                  <a:pt x="2613" y="78754"/>
                  <a:pt x="8362" y="69968"/>
                  <a:pt x="16724" y="65623"/>
                </a:cubicBezTo>
                <a:cubicBezTo>
                  <a:pt x="14405" y="61703"/>
                  <a:pt x="13066" y="57130"/>
                  <a:pt x="13066" y="52263"/>
                </a:cubicBezTo>
                <a:cubicBezTo>
                  <a:pt x="13066" y="37826"/>
                  <a:pt x="24760" y="26132"/>
                  <a:pt x="39198" y="26132"/>
                </a:cubicBezTo>
                <a:lnTo>
                  <a:pt x="39198" y="18292"/>
                </a:lnTo>
                <a:close/>
                <a:moveTo>
                  <a:pt x="128045" y="18292"/>
                </a:moveTo>
                <a:lnTo>
                  <a:pt x="128045" y="26132"/>
                </a:lnTo>
                <a:cubicBezTo>
                  <a:pt x="142483" y="26132"/>
                  <a:pt x="154177" y="37826"/>
                  <a:pt x="154177" y="52263"/>
                </a:cubicBezTo>
                <a:cubicBezTo>
                  <a:pt x="154177" y="57163"/>
                  <a:pt x="152838" y="61736"/>
                  <a:pt x="150519" y="65623"/>
                </a:cubicBezTo>
                <a:cubicBezTo>
                  <a:pt x="158913" y="69968"/>
                  <a:pt x="164630" y="78722"/>
                  <a:pt x="164630" y="88848"/>
                </a:cubicBezTo>
                <a:cubicBezTo>
                  <a:pt x="164630" y="97406"/>
                  <a:pt x="160514" y="104984"/>
                  <a:pt x="154177" y="109753"/>
                </a:cubicBezTo>
                <a:cubicBezTo>
                  <a:pt x="157443" y="114130"/>
                  <a:pt x="159403" y="119552"/>
                  <a:pt x="159403" y="125432"/>
                </a:cubicBezTo>
                <a:cubicBezTo>
                  <a:pt x="159403" y="139870"/>
                  <a:pt x="147709" y="151564"/>
                  <a:pt x="133272" y="151564"/>
                </a:cubicBezTo>
                <a:cubicBezTo>
                  <a:pt x="133043" y="151564"/>
                  <a:pt x="132847" y="151564"/>
                  <a:pt x="132618" y="151564"/>
                </a:cubicBezTo>
                <a:cubicBezTo>
                  <a:pt x="130299" y="160579"/>
                  <a:pt x="122100" y="167243"/>
                  <a:pt x="112366" y="167243"/>
                </a:cubicBezTo>
                <a:lnTo>
                  <a:pt x="101914" y="167243"/>
                </a:lnTo>
                <a:cubicBezTo>
                  <a:pt x="96132" y="167243"/>
                  <a:pt x="91461" y="162572"/>
                  <a:pt x="91461" y="156790"/>
                </a:cubicBezTo>
                <a:lnTo>
                  <a:pt x="91461" y="10453"/>
                </a:lnTo>
                <a:cubicBezTo>
                  <a:pt x="91461" y="4671"/>
                  <a:pt x="96132" y="0"/>
                  <a:pt x="101914" y="0"/>
                </a:cubicBezTo>
                <a:lnTo>
                  <a:pt x="109753" y="0"/>
                </a:lnTo>
                <a:cubicBezTo>
                  <a:pt x="119846" y="0"/>
                  <a:pt x="128045" y="8199"/>
                  <a:pt x="128045" y="18292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4" name="Text 22"/>
          <p:cNvSpPr/>
          <p:nvPr/>
        </p:nvSpPr>
        <p:spPr>
          <a:xfrm>
            <a:off x="986733" y="4749695"/>
            <a:ext cx="1229235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ML-Обработка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5004" y="5167802"/>
            <a:ext cx="2040362" cy="334486"/>
          </a:xfrm>
          <a:custGeom>
            <a:avLst/>
            <a:gdLst/>
            <a:ahLst/>
            <a:cxnLst/>
            <a:rect l="l" t="t" r="r" b="b"/>
            <a:pathLst>
              <a:path w="2040362" h="334486">
                <a:moveTo>
                  <a:pt x="0" y="0"/>
                </a:moveTo>
                <a:lnTo>
                  <a:pt x="2040362" y="0"/>
                </a:lnTo>
                <a:lnTo>
                  <a:pt x="2040362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76988" y="5268148"/>
            <a:ext cx="117070" cy="133794"/>
          </a:xfrm>
          <a:custGeom>
            <a:avLst/>
            <a:gdLst/>
            <a:ahLst/>
            <a:cxnLst/>
            <a:rect l="l" t="t" r="r" b="b"/>
            <a:pathLst>
              <a:path w="117070" h="133794">
                <a:moveTo>
                  <a:pt x="114927" y="52394"/>
                </a:moveTo>
                <a:cubicBezTo>
                  <a:pt x="112915" y="44319"/>
                  <a:pt x="109100" y="38231"/>
                  <a:pt x="100973" y="38231"/>
                </a:cubicBezTo>
                <a:lnTo>
                  <a:pt x="90494" y="38231"/>
                </a:lnTo>
                <a:lnTo>
                  <a:pt x="90494" y="50617"/>
                </a:lnTo>
                <a:cubicBezTo>
                  <a:pt x="90494" y="60234"/>
                  <a:pt x="82341" y="68334"/>
                  <a:pt x="73038" y="68334"/>
                </a:cubicBezTo>
                <a:lnTo>
                  <a:pt x="45129" y="68334"/>
                </a:lnTo>
                <a:cubicBezTo>
                  <a:pt x="37499" y="68334"/>
                  <a:pt x="31175" y="74867"/>
                  <a:pt x="31175" y="82524"/>
                </a:cubicBezTo>
                <a:lnTo>
                  <a:pt x="31175" y="109126"/>
                </a:lnTo>
                <a:cubicBezTo>
                  <a:pt x="31175" y="116704"/>
                  <a:pt x="37760" y="121147"/>
                  <a:pt x="45129" y="123315"/>
                </a:cubicBezTo>
                <a:cubicBezTo>
                  <a:pt x="53962" y="125902"/>
                  <a:pt x="62455" y="126373"/>
                  <a:pt x="73038" y="123315"/>
                </a:cubicBezTo>
                <a:cubicBezTo>
                  <a:pt x="80067" y="121277"/>
                  <a:pt x="86992" y="117174"/>
                  <a:pt x="86992" y="109126"/>
                </a:cubicBezTo>
                <a:lnTo>
                  <a:pt x="86992" y="98490"/>
                </a:lnTo>
                <a:lnTo>
                  <a:pt x="59110" y="98490"/>
                </a:lnTo>
                <a:lnTo>
                  <a:pt x="59110" y="94936"/>
                </a:lnTo>
                <a:lnTo>
                  <a:pt x="100973" y="94936"/>
                </a:lnTo>
                <a:cubicBezTo>
                  <a:pt x="109100" y="94936"/>
                  <a:pt x="112105" y="89266"/>
                  <a:pt x="114927" y="80773"/>
                </a:cubicBezTo>
                <a:cubicBezTo>
                  <a:pt x="117854" y="72019"/>
                  <a:pt x="117723" y="63605"/>
                  <a:pt x="114927" y="52394"/>
                </a:cubicBezTo>
                <a:close/>
                <a:moveTo>
                  <a:pt x="74789" y="116208"/>
                </a:moveTo>
                <a:cubicBezTo>
                  <a:pt x="72800" y="116347"/>
                  <a:pt x="70900" y="115365"/>
                  <a:pt x="69863" y="113662"/>
                </a:cubicBezTo>
                <a:cubicBezTo>
                  <a:pt x="68826" y="111959"/>
                  <a:pt x="68826" y="109820"/>
                  <a:pt x="69863" y="108117"/>
                </a:cubicBezTo>
                <a:cubicBezTo>
                  <a:pt x="70900" y="106414"/>
                  <a:pt x="72800" y="105433"/>
                  <a:pt x="74789" y="105572"/>
                </a:cubicBezTo>
                <a:cubicBezTo>
                  <a:pt x="76778" y="105433"/>
                  <a:pt x="78678" y="106414"/>
                  <a:pt x="79715" y="108117"/>
                </a:cubicBezTo>
                <a:cubicBezTo>
                  <a:pt x="80752" y="109820"/>
                  <a:pt x="80752" y="111959"/>
                  <a:pt x="79715" y="113662"/>
                </a:cubicBezTo>
                <a:cubicBezTo>
                  <a:pt x="78678" y="115365"/>
                  <a:pt x="76778" y="116347"/>
                  <a:pt x="74789" y="116208"/>
                </a:cubicBezTo>
                <a:close/>
                <a:moveTo>
                  <a:pt x="43849" y="64833"/>
                </a:moveTo>
                <a:lnTo>
                  <a:pt x="71758" y="64833"/>
                </a:lnTo>
                <a:cubicBezTo>
                  <a:pt x="79519" y="64833"/>
                  <a:pt x="85712" y="58430"/>
                  <a:pt x="85712" y="50643"/>
                </a:cubicBezTo>
                <a:lnTo>
                  <a:pt x="85712" y="24015"/>
                </a:lnTo>
                <a:cubicBezTo>
                  <a:pt x="85712" y="16437"/>
                  <a:pt x="79336" y="10766"/>
                  <a:pt x="71758" y="9486"/>
                </a:cubicBezTo>
                <a:cubicBezTo>
                  <a:pt x="62402" y="7944"/>
                  <a:pt x="52237" y="8022"/>
                  <a:pt x="43849" y="9512"/>
                </a:cubicBezTo>
                <a:cubicBezTo>
                  <a:pt x="32037" y="11602"/>
                  <a:pt x="29895" y="15966"/>
                  <a:pt x="29895" y="24041"/>
                </a:cubicBezTo>
                <a:lnTo>
                  <a:pt x="29895" y="34677"/>
                </a:lnTo>
                <a:lnTo>
                  <a:pt x="57829" y="34677"/>
                </a:lnTo>
                <a:lnTo>
                  <a:pt x="57829" y="38231"/>
                </a:lnTo>
                <a:lnTo>
                  <a:pt x="19416" y="38231"/>
                </a:lnTo>
                <a:cubicBezTo>
                  <a:pt x="11289" y="38231"/>
                  <a:pt x="4181" y="43117"/>
                  <a:pt x="1960" y="52394"/>
                </a:cubicBezTo>
                <a:cubicBezTo>
                  <a:pt x="-601" y="63030"/>
                  <a:pt x="-706" y="69667"/>
                  <a:pt x="1960" y="80773"/>
                </a:cubicBezTo>
                <a:cubicBezTo>
                  <a:pt x="3946" y="89031"/>
                  <a:pt x="8676" y="94936"/>
                  <a:pt x="16803" y="94936"/>
                </a:cubicBezTo>
                <a:lnTo>
                  <a:pt x="26393" y="94936"/>
                </a:lnTo>
                <a:lnTo>
                  <a:pt x="26393" y="82184"/>
                </a:lnTo>
                <a:cubicBezTo>
                  <a:pt x="26393" y="72960"/>
                  <a:pt x="34363" y="64833"/>
                  <a:pt x="43849" y="64833"/>
                </a:cubicBezTo>
                <a:close/>
                <a:moveTo>
                  <a:pt x="42124" y="16907"/>
                </a:moveTo>
                <a:cubicBezTo>
                  <a:pt x="45066" y="16907"/>
                  <a:pt x="47455" y="19296"/>
                  <a:pt x="47455" y="22238"/>
                </a:cubicBezTo>
                <a:cubicBezTo>
                  <a:pt x="47455" y="25180"/>
                  <a:pt x="45066" y="27569"/>
                  <a:pt x="42124" y="27569"/>
                </a:cubicBezTo>
                <a:cubicBezTo>
                  <a:pt x="39182" y="27569"/>
                  <a:pt x="36793" y="25180"/>
                  <a:pt x="36793" y="22238"/>
                </a:cubicBezTo>
                <a:cubicBezTo>
                  <a:pt x="36793" y="19296"/>
                  <a:pt x="39182" y="16907"/>
                  <a:pt x="42124" y="16907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041" y="5234700"/>
            <a:ext cx="48500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5004" y="5569185"/>
            <a:ext cx="2040362" cy="334486"/>
          </a:xfrm>
          <a:custGeom>
            <a:avLst/>
            <a:gdLst/>
            <a:ahLst/>
            <a:cxnLst/>
            <a:rect l="l" t="t" r="r" b="b"/>
            <a:pathLst>
              <a:path w="2040362" h="334486">
                <a:moveTo>
                  <a:pt x="0" y="0"/>
                </a:moveTo>
                <a:lnTo>
                  <a:pt x="2040362" y="0"/>
                </a:lnTo>
                <a:lnTo>
                  <a:pt x="2040362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51901" y="5669531"/>
            <a:ext cx="167243" cy="133794"/>
          </a:xfrm>
          <a:custGeom>
            <a:avLst/>
            <a:gdLst/>
            <a:ahLst/>
            <a:cxnLst/>
            <a:rect l="l" t="t" r="r" b="b"/>
            <a:pathLst>
              <a:path w="167243" h="133794">
                <a:moveTo>
                  <a:pt x="91984" y="0"/>
                </a:moveTo>
                <a:cubicBezTo>
                  <a:pt x="91984" y="-4625"/>
                  <a:pt x="88247" y="-8362"/>
                  <a:pt x="83621" y="-8362"/>
                </a:cubicBezTo>
                <a:cubicBezTo>
                  <a:pt x="78996" y="-8362"/>
                  <a:pt x="75259" y="-4625"/>
                  <a:pt x="75259" y="0"/>
                </a:cubicBezTo>
                <a:lnTo>
                  <a:pt x="75259" y="16724"/>
                </a:lnTo>
                <a:lnTo>
                  <a:pt x="50173" y="16724"/>
                </a:lnTo>
                <a:cubicBezTo>
                  <a:pt x="36323" y="16724"/>
                  <a:pt x="25086" y="27961"/>
                  <a:pt x="25086" y="41811"/>
                </a:cubicBezTo>
                <a:lnTo>
                  <a:pt x="25086" y="100346"/>
                </a:lnTo>
                <a:cubicBezTo>
                  <a:pt x="25086" y="114195"/>
                  <a:pt x="36323" y="125432"/>
                  <a:pt x="50173" y="125432"/>
                </a:cubicBezTo>
                <a:lnTo>
                  <a:pt x="117070" y="125432"/>
                </a:lnTo>
                <a:cubicBezTo>
                  <a:pt x="130920" y="125432"/>
                  <a:pt x="142156" y="114195"/>
                  <a:pt x="142156" y="100346"/>
                </a:cubicBezTo>
                <a:lnTo>
                  <a:pt x="142156" y="41811"/>
                </a:lnTo>
                <a:cubicBezTo>
                  <a:pt x="142156" y="27961"/>
                  <a:pt x="130920" y="16724"/>
                  <a:pt x="117070" y="16724"/>
                </a:cubicBezTo>
                <a:lnTo>
                  <a:pt x="91984" y="16724"/>
                </a:lnTo>
                <a:lnTo>
                  <a:pt x="91984" y="0"/>
                </a:lnTo>
                <a:close/>
                <a:moveTo>
                  <a:pt x="41811" y="96165"/>
                </a:moveTo>
                <a:cubicBezTo>
                  <a:pt x="41811" y="92689"/>
                  <a:pt x="44607" y="89893"/>
                  <a:pt x="48082" y="89893"/>
                </a:cubicBezTo>
                <a:lnTo>
                  <a:pt x="56444" y="89893"/>
                </a:lnTo>
                <a:cubicBezTo>
                  <a:pt x="59920" y="89893"/>
                  <a:pt x="62716" y="92689"/>
                  <a:pt x="62716" y="96165"/>
                </a:cubicBezTo>
                <a:cubicBezTo>
                  <a:pt x="62716" y="99640"/>
                  <a:pt x="59920" y="102436"/>
                  <a:pt x="56444" y="102436"/>
                </a:cubicBezTo>
                <a:lnTo>
                  <a:pt x="48082" y="102436"/>
                </a:lnTo>
                <a:cubicBezTo>
                  <a:pt x="44607" y="102436"/>
                  <a:pt x="41811" y="99640"/>
                  <a:pt x="41811" y="96165"/>
                </a:cubicBezTo>
                <a:close/>
                <a:moveTo>
                  <a:pt x="73169" y="96165"/>
                </a:moveTo>
                <a:cubicBezTo>
                  <a:pt x="73169" y="92689"/>
                  <a:pt x="75965" y="89893"/>
                  <a:pt x="79440" y="89893"/>
                </a:cubicBezTo>
                <a:lnTo>
                  <a:pt x="87802" y="89893"/>
                </a:lnTo>
                <a:cubicBezTo>
                  <a:pt x="91278" y="89893"/>
                  <a:pt x="94074" y="92689"/>
                  <a:pt x="94074" y="96165"/>
                </a:cubicBezTo>
                <a:cubicBezTo>
                  <a:pt x="94074" y="99640"/>
                  <a:pt x="91278" y="102436"/>
                  <a:pt x="87802" y="102436"/>
                </a:cubicBezTo>
                <a:lnTo>
                  <a:pt x="79440" y="102436"/>
                </a:lnTo>
                <a:cubicBezTo>
                  <a:pt x="75965" y="102436"/>
                  <a:pt x="73169" y="99640"/>
                  <a:pt x="73169" y="96165"/>
                </a:cubicBezTo>
                <a:close/>
                <a:moveTo>
                  <a:pt x="104527" y="96165"/>
                </a:moveTo>
                <a:cubicBezTo>
                  <a:pt x="104527" y="92689"/>
                  <a:pt x="107323" y="89893"/>
                  <a:pt x="110798" y="89893"/>
                </a:cubicBezTo>
                <a:lnTo>
                  <a:pt x="119160" y="89893"/>
                </a:lnTo>
                <a:cubicBezTo>
                  <a:pt x="122636" y="89893"/>
                  <a:pt x="125432" y="92689"/>
                  <a:pt x="125432" y="96165"/>
                </a:cubicBezTo>
                <a:cubicBezTo>
                  <a:pt x="125432" y="99640"/>
                  <a:pt x="122636" y="102436"/>
                  <a:pt x="119160" y="102436"/>
                </a:cubicBezTo>
                <a:lnTo>
                  <a:pt x="110798" y="102436"/>
                </a:lnTo>
                <a:cubicBezTo>
                  <a:pt x="107323" y="102436"/>
                  <a:pt x="104527" y="99640"/>
                  <a:pt x="104527" y="96165"/>
                </a:cubicBezTo>
                <a:close/>
                <a:moveTo>
                  <a:pt x="58535" y="45992"/>
                </a:moveTo>
                <a:cubicBezTo>
                  <a:pt x="65458" y="45992"/>
                  <a:pt x="71078" y="51612"/>
                  <a:pt x="71078" y="58535"/>
                </a:cubicBezTo>
                <a:cubicBezTo>
                  <a:pt x="71078" y="65458"/>
                  <a:pt x="65458" y="71078"/>
                  <a:pt x="58535" y="71078"/>
                </a:cubicBezTo>
                <a:cubicBezTo>
                  <a:pt x="51612" y="71078"/>
                  <a:pt x="45992" y="65458"/>
                  <a:pt x="45992" y="58535"/>
                </a:cubicBezTo>
                <a:cubicBezTo>
                  <a:pt x="45992" y="51612"/>
                  <a:pt x="51612" y="45992"/>
                  <a:pt x="58535" y="45992"/>
                </a:cubicBezTo>
                <a:close/>
                <a:moveTo>
                  <a:pt x="96165" y="58535"/>
                </a:moveTo>
                <a:cubicBezTo>
                  <a:pt x="96165" y="51612"/>
                  <a:pt x="101785" y="45992"/>
                  <a:pt x="108708" y="45992"/>
                </a:cubicBezTo>
                <a:cubicBezTo>
                  <a:pt x="115631" y="45992"/>
                  <a:pt x="121251" y="51612"/>
                  <a:pt x="121251" y="58535"/>
                </a:cubicBezTo>
                <a:cubicBezTo>
                  <a:pt x="121251" y="65458"/>
                  <a:pt x="115631" y="71078"/>
                  <a:pt x="108708" y="71078"/>
                </a:cubicBezTo>
                <a:cubicBezTo>
                  <a:pt x="101785" y="71078"/>
                  <a:pt x="96165" y="65458"/>
                  <a:pt x="96165" y="58535"/>
                </a:cubicBezTo>
                <a:close/>
                <a:moveTo>
                  <a:pt x="16724" y="58535"/>
                </a:moveTo>
                <a:cubicBezTo>
                  <a:pt x="16724" y="53910"/>
                  <a:pt x="12987" y="50173"/>
                  <a:pt x="8362" y="50173"/>
                </a:cubicBezTo>
                <a:cubicBezTo>
                  <a:pt x="3737" y="50173"/>
                  <a:pt x="0" y="53910"/>
                  <a:pt x="0" y="58535"/>
                </a:cubicBezTo>
                <a:lnTo>
                  <a:pt x="0" y="83621"/>
                </a:lnTo>
                <a:cubicBezTo>
                  <a:pt x="0" y="88247"/>
                  <a:pt x="3737" y="91984"/>
                  <a:pt x="8362" y="91984"/>
                </a:cubicBezTo>
                <a:cubicBezTo>
                  <a:pt x="12987" y="91984"/>
                  <a:pt x="16724" y="88247"/>
                  <a:pt x="16724" y="83621"/>
                </a:cubicBezTo>
                <a:lnTo>
                  <a:pt x="16724" y="58535"/>
                </a:lnTo>
                <a:close/>
                <a:moveTo>
                  <a:pt x="158881" y="50173"/>
                </a:moveTo>
                <a:cubicBezTo>
                  <a:pt x="154255" y="50173"/>
                  <a:pt x="150519" y="53910"/>
                  <a:pt x="150519" y="58535"/>
                </a:cubicBezTo>
                <a:lnTo>
                  <a:pt x="150519" y="83621"/>
                </a:lnTo>
                <a:cubicBezTo>
                  <a:pt x="150519" y="88247"/>
                  <a:pt x="154255" y="91984"/>
                  <a:pt x="158881" y="91984"/>
                </a:cubicBezTo>
                <a:cubicBezTo>
                  <a:pt x="163506" y="91984"/>
                  <a:pt x="167243" y="88247"/>
                  <a:pt x="167243" y="83621"/>
                </a:cubicBezTo>
                <a:lnTo>
                  <a:pt x="167243" y="58535"/>
                </a:lnTo>
                <a:cubicBezTo>
                  <a:pt x="167243" y="53910"/>
                  <a:pt x="163506" y="50173"/>
                  <a:pt x="158881" y="50173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30" name="Text 28"/>
          <p:cNvSpPr/>
          <p:nvPr/>
        </p:nvSpPr>
        <p:spPr>
          <a:xfrm>
            <a:off x="786041" y="5636082"/>
            <a:ext cx="88638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Hugging Face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5004" y="5970568"/>
            <a:ext cx="2040362" cy="334486"/>
          </a:xfrm>
          <a:custGeom>
            <a:avLst/>
            <a:gdLst/>
            <a:ahLst/>
            <a:cxnLst/>
            <a:rect l="l" t="t" r="r" b="b"/>
            <a:pathLst>
              <a:path w="2040362" h="334486">
                <a:moveTo>
                  <a:pt x="0" y="0"/>
                </a:moveTo>
                <a:lnTo>
                  <a:pt x="2040362" y="0"/>
                </a:lnTo>
                <a:lnTo>
                  <a:pt x="2040362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6988" y="6070914"/>
            <a:ext cx="117070" cy="133794"/>
          </a:xfrm>
          <a:custGeom>
            <a:avLst/>
            <a:gdLst/>
            <a:ahLst/>
            <a:cxnLst/>
            <a:rect l="l" t="t" r="r" b="b"/>
            <a:pathLst>
              <a:path w="117070" h="133794">
                <a:moveTo>
                  <a:pt x="88534" y="-2587"/>
                </a:moveTo>
                <a:cubicBezTo>
                  <a:pt x="91644" y="-340"/>
                  <a:pt x="92794" y="3737"/>
                  <a:pt x="91383" y="7291"/>
                </a:cubicBezTo>
                <a:lnTo>
                  <a:pt x="70895" y="58535"/>
                </a:lnTo>
                <a:lnTo>
                  <a:pt x="108708" y="58535"/>
                </a:lnTo>
                <a:cubicBezTo>
                  <a:pt x="112236" y="58535"/>
                  <a:pt x="115371" y="60730"/>
                  <a:pt x="116573" y="64049"/>
                </a:cubicBezTo>
                <a:cubicBezTo>
                  <a:pt x="117776" y="67367"/>
                  <a:pt x="116756" y="71078"/>
                  <a:pt x="114065" y="73326"/>
                </a:cubicBezTo>
                <a:lnTo>
                  <a:pt x="38806" y="136042"/>
                </a:lnTo>
                <a:cubicBezTo>
                  <a:pt x="35853" y="138498"/>
                  <a:pt x="31645" y="138629"/>
                  <a:pt x="28536" y="136381"/>
                </a:cubicBezTo>
                <a:cubicBezTo>
                  <a:pt x="25426" y="134134"/>
                  <a:pt x="24276" y="130057"/>
                  <a:pt x="25687" y="126503"/>
                </a:cubicBezTo>
                <a:lnTo>
                  <a:pt x="46175" y="75259"/>
                </a:lnTo>
                <a:lnTo>
                  <a:pt x="8362" y="75259"/>
                </a:lnTo>
                <a:cubicBezTo>
                  <a:pt x="4834" y="75259"/>
                  <a:pt x="1699" y="73064"/>
                  <a:pt x="497" y="69745"/>
                </a:cubicBezTo>
                <a:cubicBezTo>
                  <a:pt x="-706" y="66427"/>
                  <a:pt x="314" y="62716"/>
                  <a:pt x="3005" y="60469"/>
                </a:cubicBezTo>
                <a:lnTo>
                  <a:pt x="78264" y="-2247"/>
                </a:lnTo>
                <a:cubicBezTo>
                  <a:pt x="81217" y="-4704"/>
                  <a:pt x="85424" y="-4834"/>
                  <a:pt x="88534" y="-2587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33" name="Text 31"/>
          <p:cNvSpPr/>
          <p:nvPr/>
        </p:nvSpPr>
        <p:spPr>
          <a:xfrm>
            <a:off x="786041" y="6037465"/>
            <a:ext cx="156372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Обнаружение Аномалий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5004" y="6371951"/>
            <a:ext cx="2040362" cy="334486"/>
          </a:xfrm>
          <a:custGeom>
            <a:avLst/>
            <a:gdLst/>
            <a:ahLst/>
            <a:cxnLst/>
            <a:rect l="l" t="t" r="r" b="b"/>
            <a:pathLst>
              <a:path w="2040362" h="334486">
                <a:moveTo>
                  <a:pt x="0" y="0"/>
                </a:moveTo>
                <a:lnTo>
                  <a:pt x="2040362" y="0"/>
                </a:lnTo>
                <a:lnTo>
                  <a:pt x="2040362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8626" y="6472296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0"/>
                </a:moveTo>
                <a:cubicBezTo>
                  <a:pt x="103819" y="0"/>
                  <a:pt x="133794" y="29976"/>
                  <a:pt x="133794" y="66897"/>
                </a:cubicBezTo>
                <a:cubicBezTo>
                  <a:pt x="133794" y="103819"/>
                  <a:pt x="103819" y="133794"/>
                  <a:pt x="66897" y="133794"/>
                </a:cubicBezTo>
                <a:cubicBezTo>
                  <a:pt x="29976" y="133794"/>
                  <a:pt x="0" y="103819"/>
                  <a:pt x="0" y="66897"/>
                </a:cubicBezTo>
                <a:cubicBezTo>
                  <a:pt x="0" y="29976"/>
                  <a:pt x="29976" y="0"/>
                  <a:pt x="66897" y="0"/>
                </a:cubicBezTo>
                <a:close/>
                <a:moveTo>
                  <a:pt x="60626" y="31358"/>
                </a:moveTo>
                <a:lnTo>
                  <a:pt x="60626" y="66897"/>
                </a:lnTo>
                <a:cubicBezTo>
                  <a:pt x="60626" y="68988"/>
                  <a:pt x="61671" y="70948"/>
                  <a:pt x="63422" y="72123"/>
                </a:cubicBezTo>
                <a:lnTo>
                  <a:pt x="88508" y="88848"/>
                </a:lnTo>
                <a:cubicBezTo>
                  <a:pt x="91383" y="90781"/>
                  <a:pt x="95276" y="89998"/>
                  <a:pt x="97210" y="87097"/>
                </a:cubicBezTo>
                <a:cubicBezTo>
                  <a:pt x="99144" y="84196"/>
                  <a:pt x="98360" y="80329"/>
                  <a:pt x="95459" y="78395"/>
                </a:cubicBezTo>
                <a:lnTo>
                  <a:pt x="73169" y="63552"/>
                </a:lnTo>
                <a:lnTo>
                  <a:pt x="73169" y="31358"/>
                </a:lnTo>
                <a:cubicBezTo>
                  <a:pt x="73169" y="27883"/>
                  <a:pt x="70373" y="25086"/>
                  <a:pt x="66897" y="25086"/>
                </a:cubicBezTo>
                <a:cubicBezTo>
                  <a:pt x="63422" y="25086"/>
                  <a:pt x="60626" y="27883"/>
                  <a:pt x="60626" y="31358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36" name="Text 34"/>
          <p:cNvSpPr/>
          <p:nvPr/>
        </p:nvSpPr>
        <p:spPr>
          <a:xfrm>
            <a:off x="786041" y="6438848"/>
            <a:ext cx="106199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Реальное Время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818041" y="1413202"/>
            <a:ext cx="6221432" cy="1923292"/>
          </a:xfrm>
          <a:custGeom>
            <a:avLst/>
            <a:gdLst/>
            <a:ahLst/>
            <a:cxnLst/>
            <a:rect l="l" t="t" r="r" b="b"/>
            <a:pathLst>
              <a:path w="6221432" h="1923292">
                <a:moveTo>
                  <a:pt x="0" y="0"/>
                </a:moveTo>
                <a:lnTo>
                  <a:pt x="6221432" y="0"/>
                </a:lnTo>
                <a:lnTo>
                  <a:pt x="6221432" y="1923292"/>
                </a:lnTo>
                <a:lnTo>
                  <a:pt x="0" y="1923292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20000"/>
            </a:srgbClr>
          </a:solidFill>
          <a:ln w="25400">
            <a:solidFill>
              <a:srgbClr val="A5D6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60198" y="1555358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0" y="0"/>
                </a:moveTo>
                <a:lnTo>
                  <a:pt x="401383" y="0"/>
                </a:lnTo>
                <a:lnTo>
                  <a:pt x="401383" y="401383"/>
                </a:lnTo>
                <a:lnTo>
                  <a:pt x="0" y="401383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39" name="Shape 37"/>
          <p:cNvSpPr/>
          <p:nvPr/>
        </p:nvSpPr>
        <p:spPr>
          <a:xfrm>
            <a:off x="3077267" y="1672428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75945" y="1699"/>
                </a:moveTo>
                <a:cubicBezTo>
                  <a:pt x="80812" y="-555"/>
                  <a:pt x="86431" y="-555"/>
                  <a:pt x="91298" y="1699"/>
                </a:cubicBezTo>
                <a:lnTo>
                  <a:pt x="162702" y="34690"/>
                </a:lnTo>
                <a:cubicBezTo>
                  <a:pt x="165479" y="35964"/>
                  <a:pt x="167243" y="38740"/>
                  <a:pt x="167243" y="41811"/>
                </a:cubicBezTo>
                <a:cubicBezTo>
                  <a:pt x="167243" y="44881"/>
                  <a:pt x="165479" y="47658"/>
                  <a:pt x="162702" y="48932"/>
                </a:cubicBezTo>
                <a:lnTo>
                  <a:pt x="91298" y="81923"/>
                </a:lnTo>
                <a:cubicBezTo>
                  <a:pt x="86431" y="84177"/>
                  <a:pt x="80812" y="84177"/>
                  <a:pt x="75945" y="81923"/>
                </a:cubicBezTo>
                <a:lnTo>
                  <a:pt x="4540" y="48932"/>
                </a:lnTo>
                <a:cubicBezTo>
                  <a:pt x="1764" y="47625"/>
                  <a:pt x="0" y="44849"/>
                  <a:pt x="0" y="41811"/>
                </a:cubicBezTo>
                <a:cubicBezTo>
                  <a:pt x="0" y="38773"/>
                  <a:pt x="1764" y="35964"/>
                  <a:pt x="4540" y="34690"/>
                </a:cubicBezTo>
                <a:lnTo>
                  <a:pt x="75945" y="1699"/>
                </a:lnTo>
                <a:close/>
                <a:moveTo>
                  <a:pt x="15712" y="71340"/>
                </a:moveTo>
                <a:lnTo>
                  <a:pt x="69380" y="96132"/>
                </a:lnTo>
                <a:cubicBezTo>
                  <a:pt x="78428" y="100313"/>
                  <a:pt x="88848" y="100313"/>
                  <a:pt x="97896" y="96132"/>
                </a:cubicBezTo>
                <a:lnTo>
                  <a:pt x="151564" y="71340"/>
                </a:lnTo>
                <a:lnTo>
                  <a:pt x="162702" y="76501"/>
                </a:lnTo>
                <a:cubicBezTo>
                  <a:pt x="165479" y="77774"/>
                  <a:pt x="167243" y="80551"/>
                  <a:pt x="167243" y="83621"/>
                </a:cubicBezTo>
                <a:cubicBezTo>
                  <a:pt x="167243" y="86692"/>
                  <a:pt x="165479" y="89468"/>
                  <a:pt x="162702" y="90742"/>
                </a:cubicBezTo>
                <a:lnTo>
                  <a:pt x="91298" y="123734"/>
                </a:lnTo>
                <a:cubicBezTo>
                  <a:pt x="86431" y="125987"/>
                  <a:pt x="80812" y="125987"/>
                  <a:pt x="75945" y="123734"/>
                </a:cubicBezTo>
                <a:lnTo>
                  <a:pt x="4540" y="90742"/>
                </a:lnTo>
                <a:cubicBezTo>
                  <a:pt x="1764" y="89436"/>
                  <a:pt x="0" y="86659"/>
                  <a:pt x="0" y="83621"/>
                </a:cubicBezTo>
                <a:cubicBezTo>
                  <a:pt x="0" y="80584"/>
                  <a:pt x="1764" y="77774"/>
                  <a:pt x="4540" y="76501"/>
                </a:cubicBezTo>
                <a:lnTo>
                  <a:pt x="15679" y="71340"/>
                </a:lnTo>
                <a:close/>
                <a:moveTo>
                  <a:pt x="4540" y="118311"/>
                </a:moveTo>
                <a:lnTo>
                  <a:pt x="15679" y="113150"/>
                </a:lnTo>
                <a:lnTo>
                  <a:pt x="69347" y="137943"/>
                </a:lnTo>
                <a:cubicBezTo>
                  <a:pt x="78395" y="142124"/>
                  <a:pt x="88815" y="142124"/>
                  <a:pt x="97863" y="137943"/>
                </a:cubicBezTo>
                <a:lnTo>
                  <a:pt x="151531" y="113150"/>
                </a:lnTo>
                <a:lnTo>
                  <a:pt x="162670" y="118311"/>
                </a:lnTo>
                <a:cubicBezTo>
                  <a:pt x="165446" y="119585"/>
                  <a:pt x="167210" y="122362"/>
                  <a:pt x="167210" y="125432"/>
                </a:cubicBezTo>
                <a:cubicBezTo>
                  <a:pt x="167210" y="128503"/>
                  <a:pt x="165446" y="131279"/>
                  <a:pt x="162670" y="132553"/>
                </a:cubicBezTo>
                <a:lnTo>
                  <a:pt x="91265" y="165544"/>
                </a:lnTo>
                <a:cubicBezTo>
                  <a:pt x="86398" y="167798"/>
                  <a:pt x="80780" y="167798"/>
                  <a:pt x="75913" y="165544"/>
                </a:cubicBezTo>
                <a:lnTo>
                  <a:pt x="4540" y="132553"/>
                </a:lnTo>
                <a:cubicBezTo>
                  <a:pt x="1764" y="131246"/>
                  <a:pt x="0" y="128470"/>
                  <a:pt x="0" y="125432"/>
                </a:cubicBezTo>
                <a:cubicBezTo>
                  <a:pt x="0" y="122394"/>
                  <a:pt x="1764" y="119585"/>
                  <a:pt x="4540" y="11831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3461926" y="1638979"/>
            <a:ext cx="174768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Классификация P1-P6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960198" y="2057086"/>
            <a:ext cx="2935111" cy="535177"/>
          </a:xfrm>
          <a:custGeom>
            <a:avLst/>
            <a:gdLst/>
            <a:ahLst/>
            <a:cxnLst/>
            <a:rect l="l" t="t" r="r" b="b"/>
            <a:pathLst>
              <a:path w="2935111" h="535177">
                <a:moveTo>
                  <a:pt x="0" y="0"/>
                </a:moveTo>
                <a:lnTo>
                  <a:pt x="2935111" y="0"/>
                </a:lnTo>
                <a:lnTo>
                  <a:pt x="2935111" y="535177"/>
                </a:lnTo>
                <a:lnTo>
                  <a:pt x="0" y="5351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027095" y="2123984"/>
            <a:ext cx="28598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Оценка Приоритета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027095" y="2324675"/>
            <a:ext cx="286821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Назначение P1-P6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61248" y="2057086"/>
            <a:ext cx="2935111" cy="535177"/>
          </a:xfrm>
          <a:custGeom>
            <a:avLst/>
            <a:gdLst/>
            <a:ahLst/>
            <a:cxnLst/>
            <a:rect l="l" t="t" r="r" b="b"/>
            <a:pathLst>
              <a:path w="2935111" h="535177">
                <a:moveTo>
                  <a:pt x="0" y="0"/>
                </a:moveTo>
                <a:lnTo>
                  <a:pt x="2935111" y="0"/>
                </a:lnTo>
                <a:lnTo>
                  <a:pt x="2935111" y="535177"/>
                </a:lnTo>
                <a:lnTo>
                  <a:pt x="0" y="5351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028145" y="2123984"/>
            <a:ext cx="28598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Анализ Серьезности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28145" y="2324675"/>
            <a:ext cx="286821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Уровень угрозы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960198" y="2659160"/>
            <a:ext cx="2935111" cy="535177"/>
          </a:xfrm>
          <a:custGeom>
            <a:avLst/>
            <a:gdLst/>
            <a:ahLst/>
            <a:cxnLst/>
            <a:rect l="l" t="t" r="r" b="b"/>
            <a:pathLst>
              <a:path w="2935111" h="535177">
                <a:moveTo>
                  <a:pt x="0" y="0"/>
                </a:moveTo>
                <a:lnTo>
                  <a:pt x="2935111" y="0"/>
                </a:lnTo>
                <a:lnTo>
                  <a:pt x="2935111" y="535177"/>
                </a:lnTo>
                <a:lnTo>
                  <a:pt x="0" y="5351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027095" y="2726058"/>
            <a:ext cx="28598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Оценка Ресурсов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027095" y="2926749"/>
            <a:ext cx="286821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Требуемые силы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961248" y="2659160"/>
            <a:ext cx="2935111" cy="535177"/>
          </a:xfrm>
          <a:custGeom>
            <a:avLst/>
            <a:gdLst/>
            <a:ahLst/>
            <a:cxnLst/>
            <a:rect l="l" t="t" r="r" b="b"/>
            <a:pathLst>
              <a:path w="2935111" h="535177">
                <a:moveTo>
                  <a:pt x="0" y="0"/>
                </a:moveTo>
                <a:lnTo>
                  <a:pt x="2935111" y="0"/>
                </a:lnTo>
                <a:lnTo>
                  <a:pt x="2935111" y="535177"/>
                </a:lnTo>
                <a:lnTo>
                  <a:pt x="0" y="5351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028145" y="2726058"/>
            <a:ext cx="28598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Авто-Маршрутизация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028145" y="2926749"/>
            <a:ext cx="286821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Прямое назначение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818041" y="3453564"/>
            <a:ext cx="6221432" cy="3395029"/>
          </a:xfrm>
          <a:custGeom>
            <a:avLst/>
            <a:gdLst/>
            <a:ahLst/>
            <a:cxnLst/>
            <a:rect l="l" t="t" r="r" b="b"/>
            <a:pathLst>
              <a:path w="6221432" h="3395029">
                <a:moveTo>
                  <a:pt x="0" y="0"/>
                </a:moveTo>
                <a:lnTo>
                  <a:pt x="6221432" y="0"/>
                </a:lnTo>
                <a:lnTo>
                  <a:pt x="6221432" y="3395029"/>
                </a:lnTo>
                <a:lnTo>
                  <a:pt x="0" y="339502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60198" y="3595720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0" y="0"/>
                </a:moveTo>
                <a:lnTo>
                  <a:pt x="401383" y="0"/>
                </a:lnTo>
                <a:lnTo>
                  <a:pt x="401383" y="401383"/>
                </a:lnTo>
                <a:lnTo>
                  <a:pt x="0" y="401383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5" name="Shape 53"/>
          <p:cNvSpPr/>
          <p:nvPr/>
        </p:nvSpPr>
        <p:spPr>
          <a:xfrm>
            <a:off x="3098173" y="3712790"/>
            <a:ext cx="125432" cy="167243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95675" y="125432"/>
                </a:moveTo>
                <a:cubicBezTo>
                  <a:pt x="98059" y="118148"/>
                  <a:pt x="102828" y="111550"/>
                  <a:pt x="108218" y="105866"/>
                </a:cubicBezTo>
                <a:cubicBezTo>
                  <a:pt x="118899" y="94629"/>
                  <a:pt x="125432" y="79440"/>
                  <a:pt x="125432" y="62716"/>
                </a:cubicBezTo>
                <a:cubicBezTo>
                  <a:pt x="125432" y="28092"/>
                  <a:pt x="97341" y="0"/>
                  <a:pt x="62716" y="0"/>
                </a:cubicBezTo>
                <a:cubicBezTo>
                  <a:pt x="28092" y="0"/>
                  <a:pt x="0" y="28092"/>
                  <a:pt x="0" y="62716"/>
                </a:cubicBezTo>
                <a:cubicBezTo>
                  <a:pt x="0" y="79440"/>
                  <a:pt x="6533" y="94629"/>
                  <a:pt x="17214" y="105866"/>
                </a:cubicBezTo>
                <a:cubicBezTo>
                  <a:pt x="22604" y="111550"/>
                  <a:pt x="27406" y="118148"/>
                  <a:pt x="29757" y="125432"/>
                </a:cubicBezTo>
                <a:lnTo>
                  <a:pt x="95642" y="125432"/>
                </a:lnTo>
                <a:close/>
                <a:moveTo>
                  <a:pt x="94074" y="141111"/>
                </a:moveTo>
                <a:lnTo>
                  <a:pt x="31358" y="141111"/>
                </a:lnTo>
                <a:lnTo>
                  <a:pt x="31358" y="146337"/>
                </a:lnTo>
                <a:cubicBezTo>
                  <a:pt x="31358" y="160775"/>
                  <a:pt x="43052" y="172469"/>
                  <a:pt x="57490" y="172469"/>
                </a:cubicBezTo>
                <a:lnTo>
                  <a:pt x="67942" y="172469"/>
                </a:lnTo>
                <a:cubicBezTo>
                  <a:pt x="82380" y="172469"/>
                  <a:pt x="94074" y="160775"/>
                  <a:pt x="94074" y="146337"/>
                </a:cubicBezTo>
                <a:lnTo>
                  <a:pt x="94074" y="141111"/>
                </a:lnTo>
                <a:close/>
                <a:moveTo>
                  <a:pt x="60103" y="36584"/>
                </a:moveTo>
                <a:cubicBezTo>
                  <a:pt x="47102" y="36584"/>
                  <a:pt x="36584" y="47102"/>
                  <a:pt x="36584" y="60103"/>
                </a:cubicBezTo>
                <a:cubicBezTo>
                  <a:pt x="36584" y="64447"/>
                  <a:pt x="33089" y="67942"/>
                  <a:pt x="28745" y="67942"/>
                </a:cubicBezTo>
                <a:cubicBezTo>
                  <a:pt x="24400" y="67942"/>
                  <a:pt x="20905" y="64447"/>
                  <a:pt x="20905" y="60103"/>
                </a:cubicBezTo>
                <a:cubicBezTo>
                  <a:pt x="20905" y="38446"/>
                  <a:pt x="38446" y="20905"/>
                  <a:pt x="60103" y="20905"/>
                </a:cubicBezTo>
                <a:cubicBezTo>
                  <a:pt x="64447" y="20905"/>
                  <a:pt x="67942" y="24400"/>
                  <a:pt x="67942" y="28745"/>
                </a:cubicBezTo>
                <a:cubicBezTo>
                  <a:pt x="67942" y="33089"/>
                  <a:pt x="64447" y="36584"/>
                  <a:pt x="60103" y="3658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6" name="Text 54"/>
          <p:cNvSpPr/>
          <p:nvPr/>
        </p:nvSpPr>
        <p:spPr>
          <a:xfrm>
            <a:off x="3461926" y="3679342"/>
            <a:ext cx="1839671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Движок Рекомендаций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960198" y="4097449"/>
            <a:ext cx="5937119" cy="602074"/>
          </a:xfrm>
          <a:custGeom>
            <a:avLst/>
            <a:gdLst/>
            <a:ahLst/>
            <a:cxnLst/>
            <a:rect l="l" t="t" r="r" b="b"/>
            <a:pathLst>
              <a:path w="5937119" h="602074">
                <a:moveTo>
                  <a:pt x="0" y="0"/>
                </a:moveTo>
                <a:lnTo>
                  <a:pt x="5937119" y="0"/>
                </a:lnTo>
                <a:lnTo>
                  <a:pt x="5937119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060543" y="4197794"/>
            <a:ext cx="580332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Контекстно-Зависимые Предложения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060543" y="4431934"/>
            <a:ext cx="579496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 основе типа инцидента и исторических данных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960198" y="4766420"/>
            <a:ext cx="5937119" cy="602074"/>
          </a:xfrm>
          <a:custGeom>
            <a:avLst/>
            <a:gdLst/>
            <a:ahLst/>
            <a:cxnLst/>
            <a:rect l="l" t="t" r="r" b="b"/>
            <a:pathLst>
              <a:path w="5937119" h="602074">
                <a:moveTo>
                  <a:pt x="0" y="0"/>
                </a:moveTo>
                <a:lnTo>
                  <a:pt x="5937119" y="0"/>
                </a:lnTo>
                <a:lnTo>
                  <a:pt x="5937119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060543" y="4866765"/>
            <a:ext cx="580332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Распределение Ресурсов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060543" y="5100905"/>
            <a:ext cx="579496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Расчет ETA и оптимальное размещение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960198" y="5435391"/>
            <a:ext cx="5937119" cy="602074"/>
          </a:xfrm>
          <a:custGeom>
            <a:avLst/>
            <a:gdLst/>
            <a:ahLst/>
            <a:cxnLst/>
            <a:rect l="l" t="t" r="r" b="b"/>
            <a:pathLst>
              <a:path w="5937119" h="602074">
                <a:moveTo>
                  <a:pt x="0" y="0"/>
                </a:moveTo>
                <a:lnTo>
                  <a:pt x="5937119" y="0"/>
                </a:lnTo>
                <a:lnTo>
                  <a:pt x="5937119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060543" y="5535737"/>
            <a:ext cx="580332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Планирование Сценариев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060543" y="5769877"/>
            <a:ext cx="579496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Контингентное планирование для эскалации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2960198" y="6104362"/>
            <a:ext cx="5937119" cy="602074"/>
          </a:xfrm>
          <a:custGeom>
            <a:avLst/>
            <a:gdLst/>
            <a:ahLst/>
            <a:cxnLst/>
            <a:rect l="l" t="t" r="r" b="b"/>
            <a:pathLst>
              <a:path w="5937119" h="602074">
                <a:moveTo>
                  <a:pt x="0" y="0"/>
                </a:moveTo>
                <a:lnTo>
                  <a:pt x="5937119" y="0"/>
                </a:lnTo>
                <a:lnTo>
                  <a:pt x="5937119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3060543" y="6204708"/>
            <a:ext cx="580332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Исторических Данных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060543" y="6438848"/>
            <a:ext cx="579496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Распознавание паттернов для предиктивной аналитики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188076" y="1413202"/>
            <a:ext cx="2659160" cy="3654255"/>
          </a:xfrm>
          <a:custGeom>
            <a:avLst/>
            <a:gdLst/>
            <a:ahLst/>
            <a:cxnLst/>
            <a:rect l="l" t="t" r="r" b="b"/>
            <a:pathLst>
              <a:path w="2659160" h="3654255">
                <a:moveTo>
                  <a:pt x="0" y="0"/>
                </a:moveTo>
                <a:lnTo>
                  <a:pt x="2659160" y="0"/>
                </a:lnTo>
                <a:lnTo>
                  <a:pt x="2659160" y="3654255"/>
                </a:lnTo>
                <a:lnTo>
                  <a:pt x="0" y="3654255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20000"/>
            </a:srgbClr>
          </a:solidFill>
          <a:ln w="25400">
            <a:solidFill>
              <a:srgbClr val="A5D6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30232" y="1588807"/>
            <a:ext cx="334486" cy="401383"/>
          </a:xfrm>
          <a:custGeom>
            <a:avLst/>
            <a:gdLst/>
            <a:ahLst/>
            <a:cxnLst/>
            <a:rect l="l" t="t" r="r" b="b"/>
            <a:pathLst>
              <a:path w="334486" h="401383">
                <a:moveTo>
                  <a:pt x="0" y="0"/>
                </a:moveTo>
                <a:lnTo>
                  <a:pt x="334486" y="0"/>
                </a:lnTo>
                <a:lnTo>
                  <a:pt x="334486" y="401383"/>
                </a:lnTo>
                <a:lnTo>
                  <a:pt x="0" y="401383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71" name="Shape 69"/>
          <p:cNvSpPr/>
          <p:nvPr/>
        </p:nvSpPr>
        <p:spPr>
          <a:xfrm>
            <a:off x="9404010" y="1705877"/>
            <a:ext cx="188148" cy="167243"/>
          </a:xfrm>
          <a:custGeom>
            <a:avLst/>
            <a:gdLst/>
            <a:ahLst/>
            <a:cxnLst/>
            <a:rect l="l" t="t" r="r" b="b"/>
            <a:pathLst>
              <a:path w="188148" h="167243">
                <a:moveTo>
                  <a:pt x="175213" y="-8591"/>
                </a:moveTo>
                <a:cubicBezTo>
                  <a:pt x="178414" y="-9734"/>
                  <a:pt x="181942" y="-8917"/>
                  <a:pt x="184359" y="-6533"/>
                </a:cubicBezTo>
                <a:cubicBezTo>
                  <a:pt x="186776" y="-4148"/>
                  <a:pt x="187560" y="-588"/>
                  <a:pt x="186417" y="2613"/>
                </a:cubicBezTo>
                <a:lnTo>
                  <a:pt x="128274" y="164924"/>
                </a:lnTo>
                <a:cubicBezTo>
                  <a:pt x="126641" y="169464"/>
                  <a:pt x="122362" y="172469"/>
                  <a:pt x="117560" y="172469"/>
                </a:cubicBezTo>
                <a:cubicBezTo>
                  <a:pt x="112922" y="172469"/>
                  <a:pt x="108740" y="169660"/>
                  <a:pt x="107009" y="165381"/>
                </a:cubicBezTo>
                <a:lnTo>
                  <a:pt x="86039" y="113771"/>
                </a:lnTo>
                <a:cubicBezTo>
                  <a:pt x="84569" y="110178"/>
                  <a:pt x="85222" y="106062"/>
                  <a:pt x="87737" y="103122"/>
                </a:cubicBezTo>
                <a:lnTo>
                  <a:pt x="118605" y="66407"/>
                </a:lnTo>
                <a:cubicBezTo>
                  <a:pt x="120271" y="64415"/>
                  <a:pt x="120140" y="61507"/>
                  <a:pt x="118311" y="59678"/>
                </a:cubicBezTo>
                <a:cubicBezTo>
                  <a:pt x="116482" y="57849"/>
                  <a:pt x="113542" y="57718"/>
                  <a:pt x="111582" y="59384"/>
                </a:cubicBezTo>
                <a:lnTo>
                  <a:pt x="74867" y="90187"/>
                </a:lnTo>
                <a:cubicBezTo>
                  <a:pt x="71895" y="92669"/>
                  <a:pt x="67812" y="93323"/>
                  <a:pt x="64219" y="91886"/>
                </a:cubicBezTo>
                <a:lnTo>
                  <a:pt x="12445" y="70817"/>
                </a:lnTo>
                <a:cubicBezTo>
                  <a:pt x="8166" y="69086"/>
                  <a:pt x="5357" y="64905"/>
                  <a:pt x="5357" y="60266"/>
                </a:cubicBezTo>
                <a:cubicBezTo>
                  <a:pt x="5357" y="55465"/>
                  <a:pt x="8362" y="51185"/>
                  <a:pt x="12903" y="49552"/>
                </a:cubicBezTo>
                <a:lnTo>
                  <a:pt x="175213" y="-859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2" name="Text 70"/>
          <p:cNvSpPr/>
          <p:nvPr/>
        </p:nvSpPr>
        <p:spPr>
          <a:xfrm>
            <a:off x="9766283" y="1555358"/>
            <a:ext cx="2023638" cy="46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Диспетчеризации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330232" y="2123984"/>
            <a:ext cx="2374848" cy="602074"/>
          </a:xfrm>
          <a:custGeom>
            <a:avLst/>
            <a:gdLst/>
            <a:ahLst/>
            <a:cxnLst/>
            <a:rect l="l" t="t" r="r" b="b"/>
            <a:pathLst>
              <a:path w="2374848" h="602074">
                <a:moveTo>
                  <a:pt x="0" y="0"/>
                </a:moveTo>
                <a:lnTo>
                  <a:pt x="2374848" y="0"/>
                </a:lnTo>
                <a:lnTo>
                  <a:pt x="2374848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447302" y="2257778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2091"/>
                </a:moveTo>
                <a:cubicBezTo>
                  <a:pt x="31129" y="2091"/>
                  <a:pt x="2091" y="31129"/>
                  <a:pt x="2091" y="66897"/>
                </a:cubicBezTo>
                <a:cubicBezTo>
                  <a:pt x="2091" y="102665"/>
                  <a:pt x="31129" y="131704"/>
                  <a:pt x="66897" y="131704"/>
                </a:cubicBezTo>
                <a:cubicBezTo>
                  <a:pt x="102665" y="131704"/>
                  <a:pt x="131704" y="102665"/>
                  <a:pt x="131704" y="66897"/>
                </a:cubicBezTo>
                <a:cubicBezTo>
                  <a:pt x="131704" y="31129"/>
                  <a:pt x="102665" y="2091"/>
                  <a:pt x="66897" y="2091"/>
                </a:cubicBezTo>
                <a:close/>
                <a:moveTo>
                  <a:pt x="96949" y="46175"/>
                </a:moveTo>
                <a:cubicBezTo>
                  <a:pt x="95982" y="56418"/>
                  <a:pt x="91748" y="81296"/>
                  <a:pt x="89606" y="92767"/>
                </a:cubicBezTo>
                <a:cubicBezTo>
                  <a:pt x="88691" y="97628"/>
                  <a:pt x="86914" y="99248"/>
                  <a:pt x="85189" y="99405"/>
                </a:cubicBezTo>
                <a:cubicBezTo>
                  <a:pt x="81426" y="99745"/>
                  <a:pt x="78578" y="96922"/>
                  <a:pt x="74920" y="94518"/>
                </a:cubicBezTo>
                <a:cubicBezTo>
                  <a:pt x="69223" y="90781"/>
                  <a:pt x="65983" y="88456"/>
                  <a:pt x="60469" y="84797"/>
                </a:cubicBezTo>
                <a:cubicBezTo>
                  <a:pt x="54066" y="80590"/>
                  <a:pt x="58221" y="78264"/>
                  <a:pt x="61854" y="74475"/>
                </a:cubicBezTo>
                <a:cubicBezTo>
                  <a:pt x="62821" y="73482"/>
                  <a:pt x="79388" y="58404"/>
                  <a:pt x="79702" y="57045"/>
                </a:cubicBezTo>
                <a:cubicBezTo>
                  <a:pt x="79754" y="56863"/>
                  <a:pt x="79780" y="56235"/>
                  <a:pt x="79388" y="55896"/>
                </a:cubicBezTo>
                <a:cubicBezTo>
                  <a:pt x="78996" y="55556"/>
                  <a:pt x="78447" y="55687"/>
                  <a:pt x="78055" y="55765"/>
                </a:cubicBezTo>
                <a:cubicBezTo>
                  <a:pt x="77480" y="55896"/>
                  <a:pt x="68360" y="61906"/>
                  <a:pt x="50722" y="73822"/>
                </a:cubicBezTo>
                <a:cubicBezTo>
                  <a:pt x="48135" y="75599"/>
                  <a:pt x="45783" y="76461"/>
                  <a:pt x="43692" y="76409"/>
                </a:cubicBezTo>
                <a:cubicBezTo>
                  <a:pt x="41366" y="76357"/>
                  <a:pt x="36924" y="75102"/>
                  <a:pt x="33605" y="74031"/>
                </a:cubicBezTo>
                <a:cubicBezTo>
                  <a:pt x="29555" y="72724"/>
                  <a:pt x="26315" y="72019"/>
                  <a:pt x="26602" y="69772"/>
                </a:cubicBezTo>
                <a:cubicBezTo>
                  <a:pt x="26759" y="68596"/>
                  <a:pt x="28353" y="67420"/>
                  <a:pt x="31410" y="66192"/>
                </a:cubicBezTo>
                <a:cubicBezTo>
                  <a:pt x="50303" y="57960"/>
                  <a:pt x="62899" y="52525"/>
                  <a:pt x="69197" y="49912"/>
                </a:cubicBezTo>
                <a:cubicBezTo>
                  <a:pt x="87201" y="42438"/>
                  <a:pt x="90938" y="41131"/>
                  <a:pt x="93369" y="41079"/>
                </a:cubicBezTo>
                <a:cubicBezTo>
                  <a:pt x="93917" y="41079"/>
                  <a:pt x="95093" y="41210"/>
                  <a:pt x="95877" y="41837"/>
                </a:cubicBezTo>
                <a:cubicBezTo>
                  <a:pt x="96400" y="42281"/>
                  <a:pt x="96713" y="42908"/>
                  <a:pt x="96792" y="43588"/>
                </a:cubicBezTo>
                <a:cubicBezTo>
                  <a:pt x="96922" y="44424"/>
                  <a:pt x="96949" y="45286"/>
                  <a:pt x="96896" y="46149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75" name="Text 73"/>
          <p:cNvSpPr/>
          <p:nvPr/>
        </p:nvSpPr>
        <p:spPr>
          <a:xfrm>
            <a:off x="9664718" y="2224329"/>
            <a:ext cx="1429926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Telegram Оповещения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430578" y="2458469"/>
            <a:ext cx="223269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Диспетчерам в реальном времени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330232" y="2792955"/>
            <a:ext cx="2374848" cy="602074"/>
          </a:xfrm>
          <a:custGeom>
            <a:avLst/>
            <a:gdLst/>
            <a:ahLst/>
            <a:cxnLst/>
            <a:rect l="l" t="t" r="r" b="b"/>
            <a:pathLst>
              <a:path w="2374848" h="602074">
                <a:moveTo>
                  <a:pt x="0" y="0"/>
                </a:moveTo>
                <a:lnTo>
                  <a:pt x="2374848" y="0"/>
                </a:lnTo>
                <a:lnTo>
                  <a:pt x="2374848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447302" y="2926749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125432"/>
                </a:moveTo>
                <a:cubicBezTo>
                  <a:pt x="103847" y="125432"/>
                  <a:pt x="133794" y="97341"/>
                  <a:pt x="133794" y="62716"/>
                </a:cubicBezTo>
                <a:cubicBezTo>
                  <a:pt x="133794" y="28092"/>
                  <a:pt x="103847" y="0"/>
                  <a:pt x="66897" y="0"/>
                </a:cubicBezTo>
                <a:cubicBezTo>
                  <a:pt x="29947" y="0"/>
                  <a:pt x="0" y="28092"/>
                  <a:pt x="0" y="62716"/>
                </a:cubicBezTo>
                <a:cubicBezTo>
                  <a:pt x="0" y="76906"/>
                  <a:pt x="5017" y="89971"/>
                  <a:pt x="13484" y="100476"/>
                </a:cubicBezTo>
                <a:lnTo>
                  <a:pt x="732" y="124596"/>
                </a:lnTo>
                <a:cubicBezTo>
                  <a:pt x="-523" y="126948"/>
                  <a:pt x="-131" y="129822"/>
                  <a:pt x="1672" y="131782"/>
                </a:cubicBezTo>
                <a:cubicBezTo>
                  <a:pt x="3476" y="133742"/>
                  <a:pt x="6324" y="134343"/>
                  <a:pt x="8754" y="133298"/>
                </a:cubicBezTo>
                <a:lnTo>
                  <a:pt x="39694" y="120049"/>
                </a:lnTo>
                <a:cubicBezTo>
                  <a:pt x="48004" y="123498"/>
                  <a:pt x="57202" y="125432"/>
                  <a:pt x="66897" y="125432"/>
                </a:cubicBezTo>
                <a:close/>
                <a:moveTo>
                  <a:pt x="36793" y="45156"/>
                </a:moveTo>
                <a:lnTo>
                  <a:pt x="41811" y="45156"/>
                </a:lnTo>
                <a:cubicBezTo>
                  <a:pt x="44110" y="45156"/>
                  <a:pt x="45992" y="47037"/>
                  <a:pt x="45992" y="49337"/>
                </a:cubicBezTo>
                <a:cubicBezTo>
                  <a:pt x="45992" y="51636"/>
                  <a:pt x="44110" y="53518"/>
                  <a:pt x="41811" y="53518"/>
                </a:cubicBezTo>
                <a:lnTo>
                  <a:pt x="36793" y="53518"/>
                </a:lnTo>
                <a:cubicBezTo>
                  <a:pt x="35408" y="53518"/>
                  <a:pt x="34285" y="54641"/>
                  <a:pt x="34285" y="56026"/>
                </a:cubicBezTo>
                <a:cubicBezTo>
                  <a:pt x="34285" y="57411"/>
                  <a:pt x="35408" y="58535"/>
                  <a:pt x="36793" y="58535"/>
                </a:cubicBezTo>
                <a:cubicBezTo>
                  <a:pt x="42804" y="58535"/>
                  <a:pt x="47664" y="63395"/>
                  <a:pt x="47664" y="69406"/>
                </a:cubicBezTo>
                <a:cubicBezTo>
                  <a:pt x="47664" y="75416"/>
                  <a:pt x="42804" y="80277"/>
                  <a:pt x="36793" y="80277"/>
                </a:cubicBezTo>
                <a:lnTo>
                  <a:pt x="30104" y="80277"/>
                </a:lnTo>
                <a:cubicBezTo>
                  <a:pt x="27804" y="80277"/>
                  <a:pt x="25923" y="78395"/>
                  <a:pt x="25923" y="76095"/>
                </a:cubicBezTo>
                <a:cubicBezTo>
                  <a:pt x="25923" y="73796"/>
                  <a:pt x="27804" y="71914"/>
                  <a:pt x="30104" y="71914"/>
                </a:cubicBezTo>
                <a:lnTo>
                  <a:pt x="36793" y="71914"/>
                </a:lnTo>
                <a:cubicBezTo>
                  <a:pt x="38178" y="71914"/>
                  <a:pt x="39302" y="70791"/>
                  <a:pt x="39302" y="69406"/>
                </a:cubicBezTo>
                <a:cubicBezTo>
                  <a:pt x="39302" y="68021"/>
                  <a:pt x="38178" y="66897"/>
                  <a:pt x="36793" y="66897"/>
                </a:cubicBezTo>
                <a:cubicBezTo>
                  <a:pt x="30783" y="66897"/>
                  <a:pt x="25923" y="62037"/>
                  <a:pt x="25923" y="56026"/>
                </a:cubicBezTo>
                <a:cubicBezTo>
                  <a:pt x="25923" y="50016"/>
                  <a:pt x="30783" y="45156"/>
                  <a:pt x="36793" y="45156"/>
                </a:cubicBezTo>
                <a:close/>
                <a:moveTo>
                  <a:pt x="86130" y="56026"/>
                </a:moveTo>
                <a:cubicBezTo>
                  <a:pt x="86130" y="50016"/>
                  <a:pt x="90991" y="45156"/>
                  <a:pt x="97001" y="45156"/>
                </a:cubicBezTo>
                <a:lnTo>
                  <a:pt x="102018" y="45156"/>
                </a:lnTo>
                <a:cubicBezTo>
                  <a:pt x="104318" y="45156"/>
                  <a:pt x="106199" y="47037"/>
                  <a:pt x="106199" y="49337"/>
                </a:cubicBezTo>
                <a:cubicBezTo>
                  <a:pt x="106199" y="51636"/>
                  <a:pt x="104318" y="53518"/>
                  <a:pt x="102018" y="53518"/>
                </a:cubicBezTo>
                <a:lnTo>
                  <a:pt x="97001" y="53518"/>
                </a:lnTo>
                <a:cubicBezTo>
                  <a:pt x="95616" y="53518"/>
                  <a:pt x="94492" y="54641"/>
                  <a:pt x="94492" y="56026"/>
                </a:cubicBezTo>
                <a:cubicBezTo>
                  <a:pt x="94492" y="57411"/>
                  <a:pt x="95616" y="58535"/>
                  <a:pt x="97001" y="58535"/>
                </a:cubicBezTo>
                <a:cubicBezTo>
                  <a:pt x="103011" y="58535"/>
                  <a:pt x="107872" y="63395"/>
                  <a:pt x="107872" y="69406"/>
                </a:cubicBezTo>
                <a:cubicBezTo>
                  <a:pt x="107872" y="75416"/>
                  <a:pt x="103011" y="80277"/>
                  <a:pt x="97001" y="80277"/>
                </a:cubicBezTo>
                <a:lnTo>
                  <a:pt x="90311" y="80277"/>
                </a:lnTo>
                <a:cubicBezTo>
                  <a:pt x="88012" y="80277"/>
                  <a:pt x="86130" y="78395"/>
                  <a:pt x="86130" y="76095"/>
                </a:cubicBezTo>
                <a:cubicBezTo>
                  <a:pt x="86130" y="73796"/>
                  <a:pt x="88012" y="71914"/>
                  <a:pt x="90311" y="71914"/>
                </a:cubicBezTo>
                <a:lnTo>
                  <a:pt x="97001" y="71914"/>
                </a:lnTo>
                <a:cubicBezTo>
                  <a:pt x="98386" y="71914"/>
                  <a:pt x="99509" y="70791"/>
                  <a:pt x="99509" y="69406"/>
                </a:cubicBezTo>
                <a:cubicBezTo>
                  <a:pt x="99509" y="68021"/>
                  <a:pt x="98386" y="66897"/>
                  <a:pt x="97001" y="66897"/>
                </a:cubicBezTo>
                <a:cubicBezTo>
                  <a:pt x="90991" y="66897"/>
                  <a:pt x="86130" y="62037"/>
                  <a:pt x="86130" y="56026"/>
                </a:cubicBezTo>
                <a:close/>
                <a:moveTo>
                  <a:pt x="60443" y="47194"/>
                </a:moveTo>
                <a:lnTo>
                  <a:pt x="66897" y="57934"/>
                </a:lnTo>
                <a:lnTo>
                  <a:pt x="73352" y="47194"/>
                </a:lnTo>
                <a:cubicBezTo>
                  <a:pt x="74319" y="45574"/>
                  <a:pt x="76252" y="44816"/>
                  <a:pt x="78055" y="45312"/>
                </a:cubicBezTo>
                <a:cubicBezTo>
                  <a:pt x="79858" y="45809"/>
                  <a:pt x="81113" y="47455"/>
                  <a:pt x="81113" y="49337"/>
                </a:cubicBezTo>
                <a:lnTo>
                  <a:pt x="81113" y="76095"/>
                </a:lnTo>
                <a:cubicBezTo>
                  <a:pt x="81113" y="78395"/>
                  <a:pt x="79231" y="80277"/>
                  <a:pt x="76932" y="80277"/>
                </a:cubicBezTo>
                <a:cubicBezTo>
                  <a:pt x="74632" y="80277"/>
                  <a:pt x="72751" y="78395"/>
                  <a:pt x="72751" y="76095"/>
                </a:cubicBezTo>
                <a:lnTo>
                  <a:pt x="72751" y="64441"/>
                </a:lnTo>
                <a:lnTo>
                  <a:pt x="70477" y="68230"/>
                </a:lnTo>
                <a:cubicBezTo>
                  <a:pt x="69719" y="69484"/>
                  <a:pt x="68360" y="70268"/>
                  <a:pt x="66897" y="70268"/>
                </a:cubicBezTo>
                <a:cubicBezTo>
                  <a:pt x="65434" y="70268"/>
                  <a:pt x="64075" y="69484"/>
                  <a:pt x="63317" y="68230"/>
                </a:cubicBezTo>
                <a:lnTo>
                  <a:pt x="61044" y="64441"/>
                </a:lnTo>
                <a:lnTo>
                  <a:pt x="61044" y="76095"/>
                </a:lnTo>
                <a:cubicBezTo>
                  <a:pt x="61044" y="78395"/>
                  <a:pt x="59162" y="80277"/>
                  <a:pt x="56863" y="80277"/>
                </a:cubicBezTo>
                <a:cubicBezTo>
                  <a:pt x="54563" y="80277"/>
                  <a:pt x="52681" y="78395"/>
                  <a:pt x="52681" y="76095"/>
                </a:cubicBezTo>
                <a:lnTo>
                  <a:pt x="52681" y="49337"/>
                </a:lnTo>
                <a:cubicBezTo>
                  <a:pt x="52681" y="47455"/>
                  <a:pt x="53936" y="45809"/>
                  <a:pt x="55739" y="45312"/>
                </a:cubicBezTo>
                <a:cubicBezTo>
                  <a:pt x="57542" y="44816"/>
                  <a:pt x="59476" y="45574"/>
                  <a:pt x="60443" y="47194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79" name="Text 77"/>
          <p:cNvSpPr/>
          <p:nvPr/>
        </p:nvSpPr>
        <p:spPr>
          <a:xfrm>
            <a:off x="9664718" y="2893300"/>
            <a:ext cx="1204148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SMS Уведомления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430578" y="3127440"/>
            <a:ext cx="223269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Полевым бригадам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330232" y="3461926"/>
            <a:ext cx="2374848" cy="602074"/>
          </a:xfrm>
          <a:custGeom>
            <a:avLst/>
            <a:gdLst/>
            <a:ahLst/>
            <a:cxnLst/>
            <a:rect l="l" t="t" r="r" b="b"/>
            <a:pathLst>
              <a:path w="2374848" h="602074">
                <a:moveTo>
                  <a:pt x="0" y="0"/>
                </a:moveTo>
                <a:lnTo>
                  <a:pt x="2374848" y="0"/>
                </a:lnTo>
                <a:lnTo>
                  <a:pt x="2374848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447302" y="3595720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0"/>
                </a:moveTo>
                <a:cubicBezTo>
                  <a:pt x="68099" y="0"/>
                  <a:pt x="69301" y="261"/>
                  <a:pt x="70399" y="758"/>
                </a:cubicBezTo>
                <a:lnTo>
                  <a:pt x="119631" y="21637"/>
                </a:lnTo>
                <a:cubicBezTo>
                  <a:pt x="125380" y="24067"/>
                  <a:pt x="129665" y="29738"/>
                  <a:pt x="129639" y="36584"/>
                </a:cubicBezTo>
                <a:cubicBezTo>
                  <a:pt x="129509" y="62507"/>
                  <a:pt x="118847" y="109936"/>
                  <a:pt x="73822" y="131495"/>
                </a:cubicBezTo>
                <a:cubicBezTo>
                  <a:pt x="69458" y="133585"/>
                  <a:pt x="64388" y="133585"/>
                  <a:pt x="60024" y="131495"/>
                </a:cubicBezTo>
                <a:cubicBezTo>
                  <a:pt x="14973" y="109936"/>
                  <a:pt x="4338" y="62507"/>
                  <a:pt x="4207" y="36584"/>
                </a:cubicBezTo>
                <a:cubicBezTo>
                  <a:pt x="4181" y="29738"/>
                  <a:pt x="8467" y="24067"/>
                  <a:pt x="14216" y="21637"/>
                </a:cubicBezTo>
                <a:lnTo>
                  <a:pt x="63422" y="758"/>
                </a:lnTo>
                <a:cubicBezTo>
                  <a:pt x="64519" y="261"/>
                  <a:pt x="65695" y="0"/>
                  <a:pt x="66897" y="0"/>
                </a:cubicBezTo>
                <a:close/>
                <a:moveTo>
                  <a:pt x="66897" y="17456"/>
                </a:moveTo>
                <a:lnTo>
                  <a:pt x="66897" y="116260"/>
                </a:lnTo>
                <a:cubicBezTo>
                  <a:pt x="102959" y="98804"/>
                  <a:pt x="112654" y="60129"/>
                  <a:pt x="112889" y="36976"/>
                </a:cubicBezTo>
                <a:lnTo>
                  <a:pt x="66897" y="17482"/>
                </a:lnTo>
                <a:lnTo>
                  <a:pt x="66897" y="17482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83" name="Text 81"/>
          <p:cNvSpPr/>
          <p:nvPr/>
        </p:nvSpPr>
        <p:spPr>
          <a:xfrm>
            <a:off x="9664718" y="3562272"/>
            <a:ext cx="148009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Экстренных Служб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430578" y="3796412"/>
            <a:ext cx="223269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Прямая интеграция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330232" y="4130897"/>
            <a:ext cx="2374848" cy="602074"/>
          </a:xfrm>
          <a:custGeom>
            <a:avLst/>
            <a:gdLst/>
            <a:ahLst/>
            <a:cxnLst/>
            <a:rect l="l" t="t" r="r" b="b"/>
            <a:pathLst>
              <a:path w="2374848" h="602074">
                <a:moveTo>
                  <a:pt x="0" y="0"/>
                </a:moveTo>
                <a:lnTo>
                  <a:pt x="2374848" y="0"/>
                </a:lnTo>
                <a:lnTo>
                  <a:pt x="2374848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464026" y="4264691"/>
            <a:ext cx="100346" cy="133794"/>
          </a:xfrm>
          <a:custGeom>
            <a:avLst/>
            <a:gdLst/>
            <a:ahLst/>
            <a:cxnLst/>
            <a:rect l="l" t="t" r="r" b="b"/>
            <a:pathLst>
              <a:path w="100346" h="133794">
                <a:moveTo>
                  <a:pt x="4181" y="16724"/>
                </a:moveTo>
                <a:cubicBezTo>
                  <a:pt x="4181" y="7500"/>
                  <a:pt x="11681" y="0"/>
                  <a:pt x="20905" y="0"/>
                </a:cubicBezTo>
                <a:lnTo>
                  <a:pt x="79440" y="0"/>
                </a:lnTo>
                <a:cubicBezTo>
                  <a:pt x="88665" y="0"/>
                  <a:pt x="96165" y="7500"/>
                  <a:pt x="96165" y="16724"/>
                </a:cubicBezTo>
                <a:lnTo>
                  <a:pt x="96165" y="117070"/>
                </a:lnTo>
                <a:cubicBezTo>
                  <a:pt x="96165" y="126294"/>
                  <a:pt x="88665" y="133794"/>
                  <a:pt x="79440" y="133794"/>
                </a:cubicBezTo>
                <a:lnTo>
                  <a:pt x="20905" y="133794"/>
                </a:lnTo>
                <a:cubicBezTo>
                  <a:pt x="11681" y="133794"/>
                  <a:pt x="4181" y="126294"/>
                  <a:pt x="4181" y="117070"/>
                </a:cubicBezTo>
                <a:lnTo>
                  <a:pt x="4181" y="16724"/>
                </a:lnTo>
                <a:close/>
                <a:moveTo>
                  <a:pt x="20905" y="16724"/>
                </a:moveTo>
                <a:lnTo>
                  <a:pt x="20905" y="96165"/>
                </a:lnTo>
                <a:lnTo>
                  <a:pt x="79440" y="96165"/>
                </a:lnTo>
                <a:lnTo>
                  <a:pt x="79440" y="16724"/>
                </a:lnTo>
                <a:lnTo>
                  <a:pt x="20905" y="16724"/>
                </a:lnTo>
                <a:close/>
                <a:moveTo>
                  <a:pt x="50173" y="123342"/>
                </a:moveTo>
                <a:cubicBezTo>
                  <a:pt x="54798" y="123342"/>
                  <a:pt x="58535" y="119605"/>
                  <a:pt x="58535" y="114979"/>
                </a:cubicBezTo>
                <a:cubicBezTo>
                  <a:pt x="58535" y="110354"/>
                  <a:pt x="54798" y="106617"/>
                  <a:pt x="50173" y="106617"/>
                </a:cubicBezTo>
                <a:cubicBezTo>
                  <a:pt x="45548" y="106617"/>
                  <a:pt x="41811" y="110354"/>
                  <a:pt x="41811" y="114979"/>
                </a:cubicBezTo>
                <a:cubicBezTo>
                  <a:pt x="41811" y="119605"/>
                  <a:pt x="45548" y="123342"/>
                  <a:pt x="50173" y="123342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87" name="Text 85"/>
          <p:cNvSpPr/>
          <p:nvPr/>
        </p:nvSpPr>
        <p:spPr>
          <a:xfrm>
            <a:off x="9664718" y="4231243"/>
            <a:ext cx="124595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Push-Уведомления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430578" y="4465383"/>
            <a:ext cx="223269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Гражданам через приложение Алматы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9182501" y="5176165"/>
            <a:ext cx="2673097" cy="1678003"/>
          </a:xfrm>
          <a:custGeom>
            <a:avLst/>
            <a:gdLst/>
            <a:ahLst/>
            <a:cxnLst/>
            <a:rect l="l" t="t" r="r" b="b"/>
            <a:pathLst>
              <a:path w="2673097" h="1678003">
                <a:moveTo>
                  <a:pt x="0" y="0"/>
                </a:moveTo>
                <a:lnTo>
                  <a:pt x="2673097" y="0"/>
                </a:lnTo>
                <a:lnTo>
                  <a:pt x="2673097" y="1678003"/>
                </a:lnTo>
                <a:lnTo>
                  <a:pt x="0" y="1678003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319082" y="5312748"/>
            <a:ext cx="247519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Технологический Стек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319082" y="5647233"/>
            <a:ext cx="1162337" cy="501728"/>
          </a:xfrm>
          <a:custGeom>
            <a:avLst/>
            <a:gdLst/>
            <a:ahLst/>
            <a:cxnLst/>
            <a:rect l="l" t="t" r="r" b="b"/>
            <a:pathLst>
              <a:path w="1162337" h="501728">
                <a:moveTo>
                  <a:pt x="0" y="0"/>
                </a:moveTo>
                <a:lnTo>
                  <a:pt x="1162337" y="0"/>
                </a:lnTo>
                <a:lnTo>
                  <a:pt x="1162337" y="501728"/>
                </a:lnTo>
                <a:lnTo>
                  <a:pt x="0" y="50172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9356712" y="5714130"/>
            <a:ext cx="108707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9352531" y="5881373"/>
            <a:ext cx="109544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10551105" y="5647233"/>
            <a:ext cx="1162337" cy="501728"/>
          </a:xfrm>
          <a:custGeom>
            <a:avLst/>
            <a:gdLst/>
            <a:ahLst/>
            <a:cxnLst/>
            <a:rect l="l" t="t" r="r" b="b"/>
            <a:pathLst>
              <a:path w="1162337" h="501728">
                <a:moveTo>
                  <a:pt x="0" y="0"/>
                </a:moveTo>
                <a:lnTo>
                  <a:pt x="1162337" y="0"/>
                </a:lnTo>
                <a:lnTo>
                  <a:pt x="1162337" y="501728"/>
                </a:lnTo>
                <a:lnTo>
                  <a:pt x="0" y="50172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10588734" y="5714130"/>
            <a:ext cx="108707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Хостинг ML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10584553" y="5881373"/>
            <a:ext cx="109544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Hugging Face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9319082" y="6215859"/>
            <a:ext cx="1162337" cy="501728"/>
          </a:xfrm>
          <a:custGeom>
            <a:avLst/>
            <a:gdLst/>
            <a:ahLst/>
            <a:cxnLst/>
            <a:rect l="l" t="t" r="r" b="b"/>
            <a:pathLst>
              <a:path w="1162337" h="501728">
                <a:moveTo>
                  <a:pt x="0" y="0"/>
                </a:moveTo>
                <a:lnTo>
                  <a:pt x="1162337" y="0"/>
                </a:lnTo>
                <a:lnTo>
                  <a:pt x="1162337" y="501728"/>
                </a:lnTo>
                <a:lnTo>
                  <a:pt x="0" y="50172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9356712" y="6282756"/>
            <a:ext cx="108707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Оповещения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9352531" y="6449999"/>
            <a:ext cx="109544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Telegram API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10551105" y="6215859"/>
            <a:ext cx="1162337" cy="501728"/>
          </a:xfrm>
          <a:custGeom>
            <a:avLst/>
            <a:gdLst/>
            <a:ahLst/>
            <a:cxnLst/>
            <a:rect l="l" t="t" r="r" b="b"/>
            <a:pathLst>
              <a:path w="1162337" h="501728">
                <a:moveTo>
                  <a:pt x="0" y="0"/>
                </a:moveTo>
                <a:lnTo>
                  <a:pt x="1162337" y="0"/>
                </a:lnTo>
                <a:lnTo>
                  <a:pt x="1162337" y="501728"/>
                </a:lnTo>
                <a:lnTo>
                  <a:pt x="0" y="50172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10588734" y="6282756"/>
            <a:ext cx="108707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Ответ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10584553" y="6449999"/>
            <a:ext cx="109544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29" y="318329"/>
            <a:ext cx="1161105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b="1" spc="26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ВОЗДЕЙСТВИЕ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329" y="541159"/>
            <a:ext cx="11746339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Измеряемое Воздействие для Алматы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8329" y="986820"/>
            <a:ext cx="11634924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Количественные выгоды во всех городских операциях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6287" y="1376773"/>
            <a:ext cx="2777420" cy="1798559"/>
          </a:xfrm>
          <a:custGeom>
            <a:avLst/>
            <a:gdLst/>
            <a:ahLst/>
            <a:cxnLst/>
            <a:rect l="l" t="t" r="r" b="b"/>
            <a:pathLst>
              <a:path w="2777420" h="1798559">
                <a:moveTo>
                  <a:pt x="0" y="0"/>
                </a:moveTo>
                <a:lnTo>
                  <a:pt x="2777420" y="0"/>
                </a:lnTo>
                <a:lnTo>
                  <a:pt x="2777420" y="1798559"/>
                </a:lnTo>
                <a:lnTo>
                  <a:pt x="0" y="179855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0749" y="1543896"/>
            <a:ext cx="509326" cy="509326"/>
          </a:xfrm>
          <a:custGeom>
            <a:avLst/>
            <a:gdLst/>
            <a:ahLst/>
            <a:cxnLst/>
            <a:rect l="l" t="t" r="r" b="b"/>
            <a:pathLst>
              <a:path w="509326" h="509326">
                <a:moveTo>
                  <a:pt x="0" y="0"/>
                </a:moveTo>
                <a:lnTo>
                  <a:pt x="509326" y="0"/>
                </a:lnTo>
                <a:lnTo>
                  <a:pt x="509326" y="509326"/>
                </a:lnTo>
                <a:lnTo>
                  <a:pt x="0" y="509326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1598028" y="1679185"/>
            <a:ext cx="238747" cy="238747"/>
          </a:xfrm>
          <a:custGeom>
            <a:avLst/>
            <a:gdLst/>
            <a:ahLst/>
            <a:cxnLst/>
            <a:rect l="l" t="t" r="r" b="b"/>
            <a:pathLst>
              <a:path w="238747" h="238747">
                <a:moveTo>
                  <a:pt x="0" y="119373"/>
                </a:moveTo>
                <a:cubicBezTo>
                  <a:pt x="0" y="53489"/>
                  <a:pt x="53489" y="0"/>
                  <a:pt x="119373" y="0"/>
                </a:cubicBezTo>
                <a:cubicBezTo>
                  <a:pt x="185257" y="0"/>
                  <a:pt x="238747" y="53489"/>
                  <a:pt x="238747" y="119373"/>
                </a:cubicBezTo>
                <a:cubicBezTo>
                  <a:pt x="238747" y="185257"/>
                  <a:pt x="185257" y="238747"/>
                  <a:pt x="119373" y="238747"/>
                </a:cubicBezTo>
                <a:cubicBezTo>
                  <a:pt x="53489" y="238747"/>
                  <a:pt x="0" y="185257"/>
                  <a:pt x="0" y="119373"/>
                </a:cubicBezTo>
                <a:close/>
                <a:moveTo>
                  <a:pt x="134295" y="44765"/>
                </a:moveTo>
                <a:cubicBezTo>
                  <a:pt x="134295" y="36530"/>
                  <a:pt x="127609" y="29843"/>
                  <a:pt x="119373" y="29843"/>
                </a:cubicBezTo>
                <a:cubicBezTo>
                  <a:pt x="111138" y="29843"/>
                  <a:pt x="104452" y="36530"/>
                  <a:pt x="104452" y="44765"/>
                </a:cubicBezTo>
                <a:cubicBezTo>
                  <a:pt x="104452" y="53001"/>
                  <a:pt x="111138" y="59687"/>
                  <a:pt x="119373" y="59687"/>
                </a:cubicBezTo>
                <a:cubicBezTo>
                  <a:pt x="127609" y="59687"/>
                  <a:pt x="134295" y="53001"/>
                  <a:pt x="134295" y="44765"/>
                </a:cubicBezTo>
                <a:close/>
                <a:moveTo>
                  <a:pt x="119373" y="193982"/>
                </a:moveTo>
                <a:cubicBezTo>
                  <a:pt x="135834" y="193982"/>
                  <a:pt x="149217" y="180599"/>
                  <a:pt x="149217" y="164138"/>
                </a:cubicBezTo>
                <a:cubicBezTo>
                  <a:pt x="149217" y="156584"/>
                  <a:pt x="146419" y="149636"/>
                  <a:pt x="141756" y="144414"/>
                </a:cubicBezTo>
                <a:lnTo>
                  <a:pt x="174164" y="79644"/>
                </a:lnTo>
                <a:cubicBezTo>
                  <a:pt x="176915" y="74095"/>
                  <a:pt x="174677" y="67381"/>
                  <a:pt x="169174" y="64629"/>
                </a:cubicBezTo>
                <a:cubicBezTo>
                  <a:pt x="163672" y="61878"/>
                  <a:pt x="156911" y="64117"/>
                  <a:pt x="154160" y="69619"/>
                </a:cubicBezTo>
                <a:lnTo>
                  <a:pt x="121752" y="134388"/>
                </a:lnTo>
                <a:cubicBezTo>
                  <a:pt x="120959" y="134342"/>
                  <a:pt x="120166" y="134295"/>
                  <a:pt x="119373" y="134295"/>
                </a:cubicBezTo>
                <a:cubicBezTo>
                  <a:pt x="102913" y="134295"/>
                  <a:pt x="89530" y="147678"/>
                  <a:pt x="89530" y="164138"/>
                </a:cubicBezTo>
                <a:cubicBezTo>
                  <a:pt x="89530" y="180599"/>
                  <a:pt x="102913" y="193982"/>
                  <a:pt x="119373" y="193982"/>
                </a:cubicBezTo>
                <a:close/>
                <a:moveTo>
                  <a:pt x="82069" y="67148"/>
                </a:moveTo>
                <a:cubicBezTo>
                  <a:pt x="82069" y="58912"/>
                  <a:pt x="75383" y="52226"/>
                  <a:pt x="67148" y="52226"/>
                </a:cubicBezTo>
                <a:cubicBezTo>
                  <a:pt x="58912" y="52226"/>
                  <a:pt x="52226" y="58912"/>
                  <a:pt x="52226" y="67148"/>
                </a:cubicBezTo>
                <a:cubicBezTo>
                  <a:pt x="52226" y="75383"/>
                  <a:pt x="58912" y="82069"/>
                  <a:pt x="67148" y="82069"/>
                </a:cubicBezTo>
                <a:cubicBezTo>
                  <a:pt x="75383" y="82069"/>
                  <a:pt x="82069" y="75383"/>
                  <a:pt x="82069" y="67148"/>
                </a:cubicBezTo>
                <a:close/>
                <a:moveTo>
                  <a:pt x="44765" y="134295"/>
                </a:moveTo>
                <a:cubicBezTo>
                  <a:pt x="53001" y="134295"/>
                  <a:pt x="59687" y="127609"/>
                  <a:pt x="59687" y="119373"/>
                </a:cubicBezTo>
                <a:cubicBezTo>
                  <a:pt x="59687" y="111138"/>
                  <a:pt x="53001" y="104452"/>
                  <a:pt x="44765" y="104452"/>
                </a:cubicBezTo>
                <a:cubicBezTo>
                  <a:pt x="36530" y="104452"/>
                  <a:pt x="29843" y="111138"/>
                  <a:pt x="29843" y="119373"/>
                </a:cubicBezTo>
                <a:cubicBezTo>
                  <a:pt x="29843" y="127609"/>
                  <a:pt x="36530" y="134295"/>
                  <a:pt x="44765" y="134295"/>
                </a:cubicBezTo>
                <a:close/>
                <a:moveTo>
                  <a:pt x="208903" y="119373"/>
                </a:moveTo>
                <a:cubicBezTo>
                  <a:pt x="208903" y="111138"/>
                  <a:pt x="202217" y="104452"/>
                  <a:pt x="193982" y="104452"/>
                </a:cubicBezTo>
                <a:cubicBezTo>
                  <a:pt x="185746" y="104452"/>
                  <a:pt x="179060" y="111138"/>
                  <a:pt x="179060" y="119373"/>
                </a:cubicBezTo>
                <a:cubicBezTo>
                  <a:pt x="179060" y="127609"/>
                  <a:pt x="185746" y="134295"/>
                  <a:pt x="193982" y="134295"/>
                </a:cubicBezTo>
                <a:cubicBezTo>
                  <a:pt x="202217" y="134295"/>
                  <a:pt x="208903" y="127609"/>
                  <a:pt x="208903" y="11937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397911" y="2148721"/>
            <a:ext cx="2634172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8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598" y="2594381"/>
            <a:ext cx="251479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Быстрее Реагирование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556" y="2849044"/>
            <a:ext cx="2498883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Сокращение времени реакции на инциденты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7785" y="1376773"/>
            <a:ext cx="2777420" cy="1798559"/>
          </a:xfrm>
          <a:custGeom>
            <a:avLst/>
            <a:gdLst/>
            <a:ahLst/>
            <a:cxnLst/>
            <a:rect l="l" t="t" r="r" b="b"/>
            <a:pathLst>
              <a:path w="2777420" h="1798559">
                <a:moveTo>
                  <a:pt x="0" y="0"/>
                </a:moveTo>
                <a:lnTo>
                  <a:pt x="2777420" y="0"/>
                </a:lnTo>
                <a:lnTo>
                  <a:pt x="2777420" y="1798559"/>
                </a:lnTo>
                <a:lnTo>
                  <a:pt x="0" y="1798559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20000"/>
            </a:srgbClr>
          </a:solidFill>
          <a:ln w="25400">
            <a:solidFill>
              <a:srgbClr val="A5D6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2246" y="1543896"/>
            <a:ext cx="509326" cy="509326"/>
          </a:xfrm>
          <a:custGeom>
            <a:avLst/>
            <a:gdLst/>
            <a:ahLst/>
            <a:cxnLst/>
            <a:rect l="l" t="t" r="r" b="b"/>
            <a:pathLst>
              <a:path w="509326" h="509326">
                <a:moveTo>
                  <a:pt x="0" y="0"/>
                </a:moveTo>
                <a:lnTo>
                  <a:pt x="509326" y="0"/>
                </a:lnTo>
                <a:lnTo>
                  <a:pt x="509326" y="509326"/>
                </a:lnTo>
                <a:lnTo>
                  <a:pt x="0" y="509326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19525" y="1679185"/>
            <a:ext cx="238747" cy="238747"/>
          </a:xfrm>
          <a:custGeom>
            <a:avLst/>
            <a:gdLst/>
            <a:ahLst/>
            <a:cxnLst/>
            <a:rect l="l" t="t" r="r" b="b"/>
            <a:pathLst>
              <a:path w="238747" h="238747">
                <a:moveTo>
                  <a:pt x="29843" y="29843"/>
                </a:moveTo>
                <a:cubicBezTo>
                  <a:pt x="29843" y="21590"/>
                  <a:pt x="23175" y="14922"/>
                  <a:pt x="14922" y="14922"/>
                </a:cubicBezTo>
                <a:cubicBezTo>
                  <a:pt x="6668" y="14922"/>
                  <a:pt x="0" y="21590"/>
                  <a:pt x="0" y="29843"/>
                </a:cubicBezTo>
                <a:lnTo>
                  <a:pt x="0" y="186521"/>
                </a:lnTo>
                <a:cubicBezTo>
                  <a:pt x="0" y="207131"/>
                  <a:pt x="16694" y="223825"/>
                  <a:pt x="37304" y="223825"/>
                </a:cubicBezTo>
                <a:lnTo>
                  <a:pt x="223825" y="223825"/>
                </a:lnTo>
                <a:cubicBezTo>
                  <a:pt x="232079" y="223825"/>
                  <a:pt x="238747" y="217157"/>
                  <a:pt x="238747" y="208903"/>
                </a:cubicBezTo>
                <a:cubicBezTo>
                  <a:pt x="238747" y="200650"/>
                  <a:pt x="232079" y="193982"/>
                  <a:pt x="223825" y="193982"/>
                </a:cubicBezTo>
                <a:lnTo>
                  <a:pt x="37304" y="193982"/>
                </a:lnTo>
                <a:cubicBezTo>
                  <a:pt x="33201" y="193982"/>
                  <a:pt x="29843" y="190624"/>
                  <a:pt x="29843" y="186521"/>
                </a:cubicBezTo>
                <a:lnTo>
                  <a:pt x="29843" y="29843"/>
                </a:lnTo>
                <a:close/>
                <a:moveTo>
                  <a:pt x="219442" y="70225"/>
                </a:moveTo>
                <a:cubicBezTo>
                  <a:pt x="225271" y="64396"/>
                  <a:pt x="225271" y="54930"/>
                  <a:pt x="219442" y="49102"/>
                </a:cubicBezTo>
                <a:cubicBezTo>
                  <a:pt x="213613" y="43273"/>
                  <a:pt x="204147" y="43273"/>
                  <a:pt x="198318" y="49102"/>
                </a:cubicBezTo>
                <a:lnTo>
                  <a:pt x="149217" y="98250"/>
                </a:lnTo>
                <a:lnTo>
                  <a:pt x="122451" y="71531"/>
                </a:lnTo>
                <a:cubicBezTo>
                  <a:pt x="116622" y="65702"/>
                  <a:pt x="107156" y="65702"/>
                  <a:pt x="101327" y="71531"/>
                </a:cubicBezTo>
                <a:lnTo>
                  <a:pt x="56562" y="116296"/>
                </a:lnTo>
                <a:cubicBezTo>
                  <a:pt x="50734" y="122125"/>
                  <a:pt x="50734" y="131590"/>
                  <a:pt x="56562" y="137419"/>
                </a:cubicBezTo>
                <a:cubicBezTo>
                  <a:pt x="62391" y="143248"/>
                  <a:pt x="71857" y="143248"/>
                  <a:pt x="77686" y="137419"/>
                </a:cubicBezTo>
                <a:lnTo>
                  <a:pt x="111913" y="103193"/>
                </a:lnTo>
                <a:lnTo>
                  <a:pt x="138678" y="129958"/>
                </a:lnTo>
                <a:cubicBezTo>
                  <a:pt x="144507" y="135787"/>
                  <a:pt x="153973" y="135787"/>
                  <a:pt x="159802" y="129958"/>
                </a:cubicBezTo>
                <a:lnTo>
                  <a:pt x="219488" y="7027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409" y="2148721"/>
            <a:ext cx="2634172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8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+15-20%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79095" y="2594381"/>
            <a:ext cx="251479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Выручка Туризма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7054" y="2849044"/>
            <a:ext cx="2498883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Через оптимизацию потока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9365" y="1376773"/>
            <a:ext cx="2777420" cy="1798559"/>
          </a:xfrm>
          <a:custGeom>
            <a:avLst/>
            <a:gdLst/>
            <a:ahLst/>
            <a:cxnLst/>
            <a:rect l="l" t="t" r="r" b="b"/>
            <a:pathLst>
              <a:path w="2777420" h="1798559">
                <a:moveTo>
                  <a:pt x="0" y="0"/>
                </a:moveTo>
                <a:lnTo>
                  <a:pt x="2777420" y="0"/>
                </a:lnTo>
                <a:lnTo>
                  <a:pt x="2777420" y="1798559"/>
                </a:lnTo>
                <a:lnTo>
                  <a:pt x="0" y="1798559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 w="25400">
            <a:solidFill>
              <a:srgbClr val="5F6B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3827" y="1543896"/>
            <a:ext cx="509326" cy="509326"/>
          </a:xfrm>
          <a:custGeom>
            <a:avLst/>
            <a:gdLst/>
            <a:ahLst/>
            <a:cxnLst/>
            <a:rect l="l" t="t" r="r" b="b"/>
            <a:pathLst>
              <a:path w="509326" h="509326">
                <a:moveTo>
                  <a:pt x="0" y="0"/>
                </a:moveTo>
                <a:lnTo>
                  <a:pt x="509326" y="0"/>
                </a:lnTo>
                <a:lnTo>
                  <a:pt x="509326" y="509326"/>
                </a:lnTo>
                <a:lnTo>
                  <a:pt x="0" y="509326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19" name="Shape 17"/>
          <p:cNvSpPr/>
          <p:nvPr/>
        </p:nvSpPr>
        <p:spPr>
          <a:xfrm>
            <a:off x="7456028" y="1679185"/>
            <a:ext cx="208903" cy="238747"/>
          </a:xfrm>
          <a:custGeom>
            <a:avLst/>
            <a:gdLst/>
            <a:ahLst/>
            <a:cxnLst/>
            <a:rect l="l" t="t" r="r" b="b"/>
            <a:pathLst>
              <a:path w="208903" h="238747">
                <a:moveTo>
                  <a:pt x="157983" y="-4616"/>
                </a:moveTo>
                <a:cubicBezTo>
                  <a:pt x="163532" y="-606"/>
                  <a:pt x="165584" y="6668"/>
                  <a:pt x="163066" y="13010"/>
                </a:cubicBezTo>
                <a:lnTo>
                  <a:pt x="126508" y="104452"/>
                </a:lnTo>
                <a:lnTo>
                  <a:pt x="193982" y="104452"/>
                </a:lnTo>
                <a:cubicBezTo>
                  <a:pt x="200277" y="104452"/>
                  <a:pt x="205872" y="108369"/>
                  <a:pt x="208017" y="114291"/>
                </a:cubicBezTo>
                <a:cubicBezTo>
                  <a:pt x="210162" y="120213"/>
                  <a:pt x="208344" y="126834"/>
                  <a:pt x="203541" y="130844"/>
                </a:cubicBezTo>
                <a:lnTo>
                  <a:pt x="69246" y="242757"/>
                </a:lnTo>
                <a:cubicBezTo>
                  <a:pt x="63977" y="247140"/>
                  <a:pt x="56469" y="247373"/>
                  <a:pt x="50920" y="243363"/>
                </a:cubicBezTo>
                <a:cubicBezTo>
                  <a:pt x="45371" y="239353"/>
                  <a:pt x="43319" y="232079"/>
                  <a:pt x="45838" y="225737"/>
                </a:cubicBezTo>
                <a:lnTo>
                  <a:pt x="82396" y="134295"/>
                </a:lnTo>
                <a:lnTo>
                  <a:pt x="14922" y="134295"/>
                </a:lnTo>
                <a:cubicBezTo>
                  <a:pt x="8627" y="134295"/>
                  <a:pt x="3031" y="130378"/>
                  <a:pt x="886" y="124456"/>
                </a:cubicBezTo>
                <a:cubicBezTo>
                  <a:pt x="-1259" y="118534"/>
                  <a:pt x="560" y="111913"/>
                  <a:pt x="5362" y="107902"/>
                </a:cubicBezTo>
                <a:lnTo>
                  <a:pt x="139658" y="-4010"/>
                </a:lnTo>
                <a:cubicBezTo>
                  <a:pt x="144927" y="-8393"/>
                  <a:pt x="152434" y="-8627"/>
                  <a:pt x="157983" y="-4616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6240989" y="2148721"/>
            <a:ext cx="2634172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8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-12%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0676" y="2594381"/>
            <a:ext cx="251479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Пиковое Энергопотребление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8634" y="2849044"/>
            <a:ext cx="2498883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Предиктивное балансирование нагрузки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90863" y="1376773"/>
            <a:ext cx="2777420" cy="1798559"/>
          </a:xfrm>
          <a:custGeom>
            <a:avLst/>
            <a:gdLst/>
            <a:ahLst/>
            <a:cxnLst/>
            <a:rect l="l" t="t" r="r" b="b"/>
            <a:pathLst>
              <a:path w="2777420" h="1798559">
                <a:moveTo>
                  <a:pt x="0" y="0"/>
                </a:moveTo>
                <a:lnTo>
                  <a:pt x="2777420" y="0"/>
                </a:lnTo>
                <a:lnTo>
                  <a:pt x="2777420" y="1798559"/>
                </a:lnTo>
                <a:lnTo>
                  <a:pt x="0" y="179855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25324" y="1543896"/>
            <a:ext cx="509326" cy="509326"/>
          </a:xfrm>
          <a:custGeom>
            <a:avLst/>
            <a:gdLst/>
            <a:ahLst/>
            <a:cxnLst/>
            <a:rect l="l" t="t" r="r" b="b"/>
            <a:pathLst>
              <a:path w="509326" h="509326">
                <a:moveTo>
                  <a:pt x="0" y="0"/>
                </a:moveTo>
                <a:lnTo>
                  <a:pt x="509326" y="0"/>
                </a:lnTo>
                <a:lnTo>
                  <a:pt x="509326" y="509326"/>
                </a:lnTo>
                <a:lnTo>
                  <a:pt x="0" y="509326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32760" y="1679185"/>
            <a:ext cx="298433" cy="238747"/>
          </a:xfrm>
          <a:custGeom>
            <a:avLst/>
            <a:gdLst/>
            <a:ahLst/>
            <a:cxnLst/>
            <a:rect l="l" t="t" r="r" b="b"/>
            <a:pathLst>
              <a:path w="298433" h="238747">
                <a:moveTo>
                  <a:pt x="149217" y="7461"/>
                </a:moveTo>
                <a:cubicBezTo>
                  <a:pt x="175982" y="7461"/>
                  <a:pt x="197712" y="29191"/>
                  <a:pt x="197712" y="55956"/>
                </a:cubicBezTo>
                <a:cubicBezTo>
                  <a:pt x="197712" y="82722"/>
                  <a:pt x="175982" y="104452"/>
                  <a:pt x="149217" y="104452"/>
                </a:cubicBezTo>
                <a:cubicBezTo>
                  <a:pt x="122451" y="104452"/>
                  <a:pt x="100721" y="82722"/>
                  <a:pt x="100721" y="55956"/>
                </a:cubicBezTo>
                <a:cubicBezTo>
                  <a:pt x="100721" y="29191"/>
                  <a:pt x="122451" y="7461"/>
                  <a:pt x="149217" y="7461"/>
                </a:cubicBezTo>
                <a:close/>
                <a:moveTo>
                  <a:pt x="44765" y="41035"/>
                </a:moveTo>
                <a:cubicBezTo>
                  <a:pt x="63295" y="41035"/>
                  <a:pt x="78339" y="56078"/>
                  <a:pt x="78339" y="74608"/>
                </a:cubicBezTo>
                <a:cubicBezTo>
                  <a:pt x="78339" y="93138"/>
                  <a:pt x="63295" y="108182"/>
                  <a:pt x="44765" y="108182"/>
                </a:cubicBezTo>
                <a:cubicBezTo>
                  <a:pt x="26235" y="108182"/>
                  <a:pt x="11191" y="93138"/>
                  <a:pt x="11191" y="74608"/>
                </a:cubicBezTo>
                <a:cubicBezTo>
                  <a:pt x="11191" y="56078"/>
                  <a:pt x="26235" y="41035"/>
                  <a:pt x="44765" y="41035"/>
                </a:cubicBezTo>
                <a:close/>
                <a:moveTo>
                  <a:pt x="0" y="193982"/>
                </a:moveTo>
                <a:cubicBezTo>
                  <a:pt x="0" y="161014"/>
                  <a:pt x="26719" y="134295"/>
                  <a:pt x="59687" y="134295"/>
                </a:cubicBezTo>
                <a:cubicBezTo>
                  <a:pt x="65655" y="134295"/>
                  <a:pt x="71438" y="135181"/>
                  <a:pt x="76893" y="136813"/>
                </a:cubicBezTo>
                <a:cubicBezTo>
                  <a:pt x="61552" y="153973"/>
                  <a:pt x="52226" y="176635"/>
                  <a:pt x="52226" y="201443"/>
                </a:cubicBezTo>
                <a:lnTo>
                  <a:pt x="52226" y="208903"/>
                </a:lnTo>
                <a:cubicBezTo>
                  <a:pt x="52226" y="214219"/>
                  <a:pt x="53345" y="219255"/>
                  <a:pt x="55350" y="223825"/>
                </a:cubicBezTo>
                <a:lnTo>
                  <a:pt x="14922" y="223825"/>
                </a:lnTo>
                <a:cubicBezTo>
                  <a:pt x="6668" y="223825"/>
                  <a:pt x="0" y="217157"/>
                  <a:pt x="0" y="208903"/>
                </a:cubicBezTo>
                <a:lnTo>
                  <a:pt x="0" y="193982"/>
                </a:lnTo>
                <a:close/>
                <a:moveTo>
                  <a:pt x="243083" y="223825"/>
                </a:moveTo>
                <a:cubicBezTo>
                  <a:pt x="245088" y="219255"/>
                  <a:pt x="246208" y="214219"/>
                  <a:pt x="246208" y="208903"/>
                </a:cubicBezTo>
                <a:lnTo>
                  <a:pt x="246208" y="201443"/>
                </a:lnTo>
                <a:cubicBezTo>
                  <a:pt x="246208" y="176635"/>
                  <a:pt x="236882" y="153973"/>
                  <a:pt x="221540" y="136813"/>
                </a:cubicBezTo>
                <a:cubicBezTo>
                  <a:pt x="226996" y="135181"/>
                  <a:pt x="232778" y="134295"/>
                  <a:pt x="238747" y="134295"/>
                </a:cubicBezTo>
                <a:cubicBezTo>
                  <a:pt x="271714" y="134295"/>
                  <a:pt x="298433" y="161014"/>
                  <a:pt x="298433" y="193982"/>
                </a:cubicBezTo>
                <a:lnTo>
                  <a:pt x="298433" y="208903"/>
                </a:lnTo>
                <a:cubicBezTo>
                  <a:pt x="298433" y="217157"/>
                  <a:pt x="291765" y="223825"/>
                  <a:pt x="283512" y="223825"/>
                </a:cubicBezTo>
                <a:lnTo>
                  <a:pt x="243083" y="223825"/>
                </a:lnTo>
                <a:close/>
                <a:moveTo>
                  <a:pt x="220095" y="74608"/>
                </a:moveTo>
                <a:cubicBezTo>
                  <a:pt x="220095" y="56078"/>
                  <a:pt x="235139" y="41035"/>
                  <a:pt x="253668" y="41035"/>
                </a:cubicBezTo>
                <a:cubicBezTo>
                  <a:pt x="272198" y="41035"/>
                  <a:pt x="287242" y="56078"/>
                  <a:pt x="287242" y="74608"/>
                </a:cubicBezTo>
                <a:cubicBezTo>
                  <a:pt x="287242" y="93138"/>
                  <a:pt x="272198" y="108182"/>
                  <a:pt x="253668" y="108182"/>
                </a:cubicBezTo>
                <a:cubicBezTo>
                  <a:pt x="235139" y="108182"/>
                  <a:pt x="220095" y="93138"/>
                  <a:pt x="220095" y="74608"/>
                </a:cubicBezTo>
                <a:close/>
                <a:moveTo>
                  <a:pt x="74608" y="201443"/>
                </a:moveTo>
                <a:cubicBezTo>
                  <a:pt x="74608" y="160221"/>
                  <a:pt x="107996" y="126834"/>
                  <a:pt x="149217" y="126834"/>
                </a:cubicBezTo>
                <a:cubicBezTo>
                  <a:pt x="190438" y="126834"/>
                  <a:pt x="223825" y="160221"/>
                  <a:pt x="223825" y="201443"/>
                </a:cubicBezTo>
                <a:lnTo>
                  <a:pt x="223825" y="208903"/>
                </a:lnTo>
                <a:cubicBezTo>
                  <a:pt x="223825" y="217157"/>
                  <a:pt x="217157" y="223825"/>
                  <a:pt x="208903" y="223825"/>
                </a:cubicBezTo>
                <a:lnTo>
                  <a:pt x="89530" y="223825"/>
                </a:lnTo>
                <a:cubicBezTo>
                  <a:pt x="81276" y="223825"/>
                  <a:pt x="74608" y="217157"/>
                  <a:pt x="74608" y="208903"/>
                </a:cubicBezTo>
                <a:lnTo>
                  <a:pt x="74608" y="20144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9162487" y="2148721"/>
            <a:ext cx="2634172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8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84,200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22174" y="2594381"/>
            <a:ext cx="251479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Ежедневных Посетителей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132" y="2849044"/>
            <a:ext cx="2498883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Отслеживается в реальном времени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982" y="3313274"/>
            <a:ext cx="8401232" cy="3387551"/>
          </a:xfrm>
          <a:custGeom>
            <a:avLst/>
            <a:gdLst/>
            <a:ahLst/>
            <a:cxnLst/>
            <a:rect l="l" t="t" r="r" b="b"/>
            <a:pathLst>
              <a:path w="8401232" h="3387551">
                <a:moveTo>
                  <a:pt x="0" y="0"/>
                </a:moveTo>
                <a:lnTo>
                  <a:pt x="8401232" y="0"/>
                </a:lnTo>
                <a:lnTo>
                  <a:pt x="8401232" y="3387551"/>
                </a:lnTo>
                <a:lnTo>
                  <a:pt x="0" y="3387551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799" y="3475094"/>
            <a:ext cx="8173097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Текущие Метрики Города (Live)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2799" y="3857089"/>
            <a:ext cx="3979112" cy="1273316"/>
          </a:xfrm>
          <a:custGeom>
            <a:avLst/>
            <a:gdLst/>
            <a:ahLst/>
            <a:cxnLst/>
            <a:rect l="l" t="t" r="r" b="b"/>
            <a:pathLst>
              <a:path w="3979112" h="1273316">
                <a:moveTo>
                  <a:pt x="0" y="0"/>
                </a:moveTo>
                <a:lnTo>
                  <a:pt x="3979112" y="0"/>
                </a:lnTo>
                <a:lnTo>
                  <a:pt x="3979112" y="1273316"/>
                </a:lnTo>
                <a:lnTo>
                  <a:pt x="0" y="12733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10131" y="4128993"/>
            <a:ext cx="2053222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Своевременность Вывоза Мусора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151955" y="4144910"/>
            <a:ext cx="159164" cy="159164"/>
          </a:xfrm>
          <a:custGeom>
            <a:avLst/>
            <a:gdLst/>
            <a:ahLst/>
            <a:cxnLst/>
            <a:rect l="l" t="t" r="r" b="b"/>
            <a:pathLst>
              <a:path w="159164" h="159164">
                <a:moveTo>
                  <a:pt x="79582" y="159164"/>
                </a:moveTo>
                <a:cubicBezTo>
                  <a:pt x="123505" y="159164"/>
                  <a:pt x="159164" y="123505"/>
                  <a:pt x="159164" y="79582"/>
                </a:cubicBezTo>
                <a:cubicBezTo>
                  <a:pt x="159164" y="35660"/>
                  <a:pt x="123505" y="0"/>
                  <a:pt x="79582" y="0"/>
                </a:cubicBezTo>
                <a:cubicBezTo>
                  <a:pt x="35660" y="0"/>
                  <a:pt x="0" y="35660"/>
                  <a:pt x="0" y="79582"/>
                </a:cubicBezTo>
                <a:cubicBezTo>
                  <a:pt x="0" y="123505"/>
                  <a:pt x="35660" y="159164"/>
                  <a:pt x="79582" y="159164"/>
                </a:cubicBezTo>
                <a:close/>
                <a:moveTo>
                  <a:pt x="105820" y="66122"/>
                </a:moveTo>
                <a:lnTo>
                  <a:pt x="80950" y="105913"/>
                </a:lnTo>
                <a:cubicBezTo>
                  <a:pt x="79644" y="107996"/>
                  <a:pt x="77406" y="109301"/>
                  <a:pt x="74950" y="109426"/>
                </a:cubicBezTo>
                <a:cubicBezTo>
                  <a:pt x="72494" y="109550"/>
                  <a:pt x="70132" y="108431"/>
                  <a:pt x="68671" y="106441"/>
                </a:cubicBezTo>
                <a:lnTo>
                  <a:pt x="53749" y="86546"/>
                </a:lnTo>
                <a:cubicBezTo>
                  <a:pt x="51262" y="83250"/>
                  <a:pt x="51946" y="78587"/>
                  <a:pt x="55241" y="76101"/>
                </a:cubicBezTo>
                <a:cubicBezTo>
                  <a:pt x="58536" y="73614"/>
                  <a:pt x="63199" y="74297"/>
                  <a:pt x="65686" y="77593"/>
                </a:cubicBezTo>
                <a:lnTo>
                  <a:pt x="74080" y="88784"/>
                </a:lnTo>
                <a:lnTo>
                  <a:pt x="93167" y="58226"/>
                </a:lnTo>
                <a:cubicBezTo>
                  <a:pt x="95343" y="54744"/>
                  <a:pt x="99944" y="53656"/>
                  <a:pt x="103457" y="55863"/>
                </a:cubicBezTo>
                <a:cubicBezTo>
                  <a:pt x="106970" y="58070"/>
                  <a:pt x="108027" y="62640"/>
                  <a:pt x="105820" y="66153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34" name="Text 32"/>
          <p:cNvSpPr/>
          <p:nvPr/>
        </p:nvSpPr>
        <p:spPr>
          <a:xfrm>
            <a:off x="610131" y="4383657"/>
            <a:ext cx="3867697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0131" y="4797484"/>
            <a:ext cx="3724449" cy="63666"/>
          </a:xfrm>
          <a:custGeom>
            <a:avLst/>
            <a:gdLst/>
            <a:ahLst/>
            <a:cxnLst/>
            <a:rect l="l" t="t" r="r" b="b"/>
            <a:pathLst>
              <a:path w="3724449" h="63666">
                <a:moveTo>
                  <a:pt x="0" y="0"/>
                </a:moveTo>
                <a:lnTo>
                  <a:pt x="3724449" y="0"/>
                </a:lnTo>
                <a:lnTo>
                  <a:pt x="3724449" y="63666"/>
                </a:lnTo>
                <a:lnTo>
                  <a:pt x="0" y="6366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0131" y="4797484"/>
            <a:ext cx="3382245" cy="63666"/>
          </a:xfrm>
          <a:custGeom>
            <a:avLst/>
            <a:gdLst/>
            <a:ahLst/>
            <a:cxnLst/>
            <a:rect l="l" t="t" r="r" b="b"/>
            <a:pathLst>
              <a:path w="3382245" h="63666">
                <a:moveTo>
                  <a:pt x="0" y="0"/>
                </a:moveTo>
                <a:lnTo>
                  <a:pt x="3382245" y="0"/>
                </a:lnTo>
                <a:lnTo>
                  <a:pt x="3382245" y="63666"/>
                </a:lnTo>
                <a:lnTo>
                  <a:pt x="0" y="63666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37" name="Shape 35"/>
          <p:cNvSpPr/>
          <p:nvPr/>
        </p:nvSpPr>
        <p:spPr>
          <a:xfrm>
            <a:off x="4585678" y="3857089"/>
            <a:ext cx="3979112" cy="1273316"/>
          </a:xfrm>
          <a:custGeom>
            <a:avLst/>
            <a:gdLst/>
            <a:ahLst/>
            <a:cxnLst/>
            <a:rect l="l" t="t" r="r" b="b"/>
            <a:pathLst>
              <a:path w="3979112" h="1273316">
                <a:moveTo>
                  <a:pt x="0" y="0"/>
                </a:moveTo>
                <a:lnTo>
                  <a:pt x="3979112" y="0"/>
                </a:lnTo>
                <a:lnTo>
                  <a:pt x="3979112" y="1273316"/>
                </a:lnTo>
                <a:lnTo>
                  <a:pt x="0" y="12733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13010" y="4097161"/>
            <a:ext cx="72419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Города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4835" y="4113077"/>
            <a:ext cx="159164" cy="159164"/>
          </a:xfrm>
          <a:custGeom>
            <a:avLst/>
            <a:gdLst/>
            <a:ahLst/>
            <a:cxnLst/>
            <a:rect l="l" t="t" r="r" b="b"/>
            <a:pathLst>
              <a:path w="159164" h="159164">
                <a:moveTo>
                  <a:pt x="89530" y="9948"/>
                </a:moveTo>
                <a:cubicBezTo>
                  <a:pt x="89530" y="15450"/>
                  <a:pt x="93975" y="19896"/>
                  <a:pt x="99478" y="19896"/>
                </a:cubicBezTo>
                <a:lnTo>
                  <a:pt x="111913" y="19896"/>
                </a:lnTo>
                <a:cubicBezTo>
                  <a:pt x="116047" y="19896"/>
                  <a:pt x="119373" y="23222"/>
                  <a:pt x="119373" y="27356"/>
                </a:cubicBezTo>
                <a:cubicBezTo>
                  <a:pt x="119373" y="31491"/>
                  <a:pt x="116047" y="34817"/>
                  <a:pt x="111913" y="34817"/>
                </a:cubicBezTo>
                <a:lnTo>
                  <a:pt x="9948" y="34817"/>
                </a:lnTo>
                <a:cubicBezTo>
                  <a:pt x="4445" y="34817"/>
                  <a:pt x="0" y="39263"/>
                  <a:pt x="0" y="44765"/>
                </a:cubicBezTo>
                <a:cubicBezTo>
                  <a:pt x="0" y="50267"/>
                  <a:pt x="4445" y="54713"/>
                  <a:pt x="9948" y="54713"/>
                </a:cubicBezTo>
                <a:lnTo>
                  <a:pt x="111913" y="54713"/>
                </a:lnTo>
                <a:cubicBezTo>
                  <a:pt x="127021" y="54713"/>
                  <a:pt x="139269" y="42465"/>
                  <a:pt x="139269" y="27356"/>
                </a:cubicBezTo>
                <a:cubicBezTo>
                  <a:pt x="139269" y="12248"/>
                  <a:pt x="127021" y="0"/>
                  <a:pt x="111913" y="0"/>
                </a:cubicBezTo>
                <a:lnTo>
                  <a:pt x="99478" y="0"/>
                </a:lnTo>
                <a:cubicBezTo>
                  <a:pt x="93975" y="0"/>
                  <a:pt x="89530" y="4445"/>
                  <a:pt x="89530" y="9948"/>
                </a:cubicBezTo>
                <a:close/>
                <a:moveTo>
                  <a:pt x="109426" y="119373"/>
                </a:moveTo>
                <a:cubicBezTo>
                  <a:pt x="109426" y="124876"/>
                  <a:pt x="113871" y="129321"/>
                  <a:pt x="119373" y="129321"/>
                </a:cubicBezTo>
                <a:lnTo>
                  <a:pt x="129321" y="129321"/>
                </a:lnTo>
                <a:cubicBezTo>
                  <a:pt x="145797" y="129321"/>
                  <a:pt x="159164" y="115954"/>
                  <a:pt x="159164" y="99478"/>
                </a:cubicBezTo>
                <a:cubicBezTo>
                  <a:pt x="159164" y="83002"/>
                  <a:pt x="145797" y="69634"/>
                  <a:pt x="129321" y="69634"/>
                </a:cubicBezTo>
                <a:lnTo>
                  <a:pt x="9948" y="69634"/>
                </a:lnTo>
                <a:cubicBezTo>
                  <a:pt x="4445" y="69634"/>
                  <a:pt x="0" y="74080"/>
                  <a:pt x="0" y="79582"/>
                </a:cubicBezTo>
                <a:cubicBezTo>
                  <a:pt x="0" y="85085"/>
                  <a:pt x="4445" y="89530"/>
                  <a:pt x="9948" y="89530"/>
                </a:cubicBezTo>
                <a:lnTo>
                  <a:pt x="129321" y="89530"/>
                </a:lnTo>
                <a:cubicBezTo>
                  <a:pt x="134824" y="89530"/>
                  <a:pt x="139269" y="93975"/>
                  <a:pt x="139269" y="99478"/>
                </a:cubicBezTo>
                <a:cubicBezTo>
                  <a:pt x="139269" y="104980"/>
                  <a:pt x="134824" y="109426"/>
                  <a:pt x="129321" y="109426"/>
                </a:cubicBezTo>
                <a:lnTo>
                  <a:pt x="119373" y="109426"/>
                </a:lnTo>
                <a:cubicBezTo>
                  <a:pt x="113871" y="109426"/>
                  <a:pt x="109426" y="113871"/>
                  <a:pt x="109426" y="119373"/>
                </a:cubicBezTo>
                <a:close/>
                <a:moveTo>
                  <a:pt x="39791" y="159164"/>
                </a:moveTo>
                <a:lnTo>
                  <a:pt x="52226" y="159164"/>
                </a:lnTo>
                <a:cubicBezTo>
                  <a:pt x="67334" y="159164"/>
                  <a:pt x="79582" y="146916"/>
                  <a:pt x="79582" y="131808"/>
                </a:cubicBezTo>
                <a:cubicBezTo>
                  <a:pt x="79582" y="116700"/>
                  <a:pt x="67334" y="104452"/>
                  <a:pt x="52226" y="104452"/>
                </a:cubicBezTo>
                <a:lnTo>
                  <a:pt x="9948" y="104452"/>
                </a:lnTo>
                <a:cubicBezTo>
                  <a:pt x="4445" y="104452"/>
                  <a:pt x="0" y="108897"/>
                  <a:pt x="0" y="114399"/>
                </a:cubicBezTo>
                <a:cubicBezTo>
                  <a:pt x="0" y="119902"/>
                  <a:pt x="4445" y="124347"/>
                  <a:pt x="9948" y="124347"/>
                </a:cubicBezTo>
                <a:lnTo>
                  <a:pt x="52226" y="124347"/>
                </a:lnTo>
                <a:cubicBezTo>
                  <a:pt x="56360" y="124347"/>
                  <a:pt x="59687" y="127674"/>
                  <a:pt x="59687" y="131808"/>
                </a:cubicBezTo>
                <a:cubicBezTo>
                  <a:pt x="59687" y="135943"/>
                  <a:pt x="56360" y="139269"/>
                  <a:pt x="52226" y="139269"/>
                </a:cubicBezTo>
                <a:lnTo>
                  <a:pt x="39791" y="139269"/>
                </a:lnTo>
                <a:cubicBezTo>
                  <a:pt x="34289" y="139269"/>
                  <a:pt x="29843" y="143714"/>
                  <a:pt x="29843" y="149217"/>
                </a:cubicBezTo>
                <a:cubicBezTo>
                  <a:pt x="29843" y="154719"/>
                  <a:pt x="34289" y="159164"/>
                  <a:pt x="39791" y="15916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0" name="Text 38"/>
          <p:cNvSpPr/>
          <p:nvPr/>
        </p:nvSpPr>
        <p:spPr>
          <a:xfrm>
            <a:off x="4713010" y="4351824"/>
            <a:ext cx="3867697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13010" y="4733819"/>
            <a:ext cx="3780157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Умеренное качество воздуха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2799" y="5260386"/>
            <a:ext cx="3979112" cy="1273316"/>
          </a:xfrm>
          <a:custGeom>
            <a:avLst/>
            <a:gdLst/>
            <a:ahLst/>
            <a:cxnLst/>
            <a:rect l="l" t="t" r="r" b="b"/>
            <a:pathLst>
              <a:path w="3979112" h="1273316">
                <a:moveTo>
                  <a:pt x="0" y="0"/>
                </a:moveTo>
                <a:lnTo>
                  <a:pt x="3979112" y="0"/>
                </a:lnTo>
                <a:lnTo>
                  <a:pt x="3979112" y="1273316"/>
                </a:lnTo>
                <a:lnTo>
                  <a:pt x="0" y="12733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10131" y="5532295"/>
            <a:ext cx="915196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Нагрузка Сети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161903" y="5548211"/>
            <a:ext cx="139269" cy="159164"/>
          </a:xfrm>
          <a:custGeom>
            <a:avLst/>
            <a:gdLst/>
            <a:ahLst/>
            <a:cxnLst/>
            <a:rect l="l" t="t" r="r" b="b"/>
            <a:pathLst>
              <a:path w="139269" h="159164">
                <a:moveTo>
                  <a:pt x="105322" y="-3078"/>
                </a:moveTo>
                <a:cubicBezTo>
                  <a:pt x="109021" y="-404"/>
                  <a:pt x="110389" y="4445"/>
                  <a:pt x="108711" y="8673"/>
                </a:cubicBezTo>
                <a:lnTo>
                  <a:pt x="84339" y="69634"/>
                </a:lnTo>
                <a:lnTo>
                  <a:pt x="129321" y="69634"/>
                </a:lnTo>
                <a:cubicBezTo>
                  <a:pt x="133518" y="69634"/>
                  <a:pt x="137248" y="72246"/>
                  <a:pt x="138678" y="76194"/>
                </a:cubicBezTo>
                <a:cubicBezTo>
                  <a:pt x="140108" y="80142"/>
                  <a:pt x="138896" y="84556"/>
                  <a:pt x="135694" y="87230"/>
                </a:cubicBezTo>
                <a:lnTo>
                  <a:pt x="46164" y="161838"/>
                </a:lnTo>
                <a:cubicBezTo>
                  <a:pt x="42651" y="164760"/>
                  <a:pt x="37646" y="164916"/>
                  <a:pt x="33947" y="162242"/>
                </a:cubicBezTo>
                <a:cubicBezTo>
                  <a:pt x="30247" y="159569"/>
                  <a:pt x="28880" y="154719"/>
                  <a:pt x="30558" y="150491"/>
                </a:cubicBezTo>
                <a:lnTo>
                  <a:pt x="54930" y="89530"/>
                </a:lnTo>
                <a:lnTo>
                  <a:pt x="9948" y="89530"/>
                </a:lnTo>
                <a:cubicBezTo>
                  <a:pt x="5751" y="89530"/>
                  <a:pt x="2021" y="86919"/>
                  <a:pt x="591" y="82971"/>
                </a:cubicBezTo>
                <a:cubicBezTo>
                  <a:pt x="-839" y="79023"/>
                  <a:pt x="373" y="74608"/>
                  <a:pt x="3575" y="71935"/>
                </a:cubicBezTo>
                <a:lnTo>
                  <a:pt x="93105" y="-2673"/>
                </a:lnTo>
                <a:cubicBezTo>
                  <a:pt x="96618" y="-5596"/>
                  <a:pt x="101623" y="-5751"/>
                  <a:pt x="105322" y="-307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5" name="Text 43"/>
          <p:cNvSpPr/>
          <p:nvPr/>
        </p:nvSpPr>
        <p:spPr>
          <a:xfrm>
            <a:off x="610131" y="5786958"/>
            <a:ext cx="3867697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0131" y="6200786"/>
            <a:ext cx="3724449" cy="63666"/>
          </a:xfrm>
          <a:custGeom>
            <a:avLst/>
            <a:gdLst/>
            <a:ahLst/>
            <a:cxnLst/>
            <a:rect l="l" t="t" r="r" b="b"/>
            <a:pathLst>
              <a:path w="3724449" h="63666">
                <a:moveTo>
                  <a:pt x="0" y="0"/>
                </a:moveTo>
                <a:lnTo>
                  <a:pt x="3724449" y="0"/>
                </a:lnTo>
                <a:lnTo>
                  <a:pt x="3724449" y="63666"/>
                </a:lnTo>
                <a:lnTo>
                  <a:pt x="0" y="6366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0131" y="6200786"/>
            <a:ext cx="2681922" cy="63666"/>
          </a:xfrm>
          <a:custGeom>
            <a:avLst/>
            <a:gdLst/>
            <a:ahLst/>
            <a:cxnLst/>
            <a:rect l="l" t="t" r="r" b="b"/>
            <a:pathLst>
              <a:path w="2681922" h="63666">
                <a:moveTo>
                  <a:pt x="0" y="0"/>
                </a:moveTo>
                <a:lnTo>
                  <a:pt x="2681922" y="0"/>
                </a:lnTo>
                <a:lnTo>
                  <a:pt x="2681922" y="63666"/>
                </a:lnTo>
                <a:lnTo>
                  <a:pt x="0" y="63666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Shape 46"/>
          <p:cNvSpPr/>
          <p:nvPr/>
        </p:nvSpPr>
        <p:spPr>
          <a:xfrm>
            <a:off x="4585678" y="5260386"/>
            <a:ext cx="3979112" cy="1273316"/>
          </a:xfrm>
          <a:custGeom>
            <a:avLst/>
            <a:gdLst/>
            <a:ahLst/>
            <a:cxnLst/>
            <a:rect l="l" t="t" r="r" b="b"/>
            <a:pathLst>
              <a:path w="3979112" h="1273316">
                <a:moveTo>
                  <a:pt x="0" y="0"/>
                </a:moveTo>
                <a:lnTo>
                  <a:pt x="3979112" y="0"/>
                </a:lnTo>
                <a:lnTo>
                  <a:pt x="3979112" y="1273316"/>
                </a:lnTo>
                <a:lnTo>
                  <a:pt x="0" y="12733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713010" y="5500462"/>
            <a:ext cx="130514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Настроение Горожан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54835" y="5516379"/>
            <a:ext cx="159164" cy="159164"/>
          </a:xfrm>
          <a:custGeom>
            <a:avLst/>
            <a:gdLst/>
            <a:ahLst/>
            <a:cxnLst/>
            <a:rect l="l" t="t" r="r" b="b"/>
            <a:pathLst>
              <a:path w="159164" h="159164">
                <a:moveTo>
                  <a:pt x="79582" y="159164"/>
                </a:moveTo>
                <a:cubicBezTo>
                  <a:pt x="123505" y="159164"/>
                  <a:pt x="159164" y="123505"/>
                  <a:pt x="159164" y="79582"/>
                </a:cubicBezTo>
                <a:cubicBezTo>
                  <a:pt x="159164" y="35660"/>
                  <a:pt x="123505" y="0"/>
                  <a:pt x="79582" y="0"/>
                </a:cubicBezTo>
                <a:cubicBezTo>
                  <a:pt x="35660" y="0"/>
                  <a:pt x="0" y="35660"/>
                  <a:pt x="0" y="79582"/>
                </a:cubicBezTo>
                <a:cubicBezTo>
                  <a:pt x="0" y="123505"/>
                  <a:pt x="35660" y="159164"/>
                  <a:pt x="79582" y="159164"/>
                </a:cubicBezTo>
                <a:close/>
                <a:moveTo>
                  <a:pt x="51418" y="100068"/>
                </a:moveTo>
                <a:cubicBezTo>
                  <a:pt x="57759" y="108773"/>
                  <a:pt x="68018" y="114399"/>
                  <a:pt x="79582" y="114399"/>
                </a:cubicBezTo>
                <a:cubicBezTo>
                  <a:pt x="91147" y="114399"/>
                  <a:pt x="101405" y="108773"/>
                  <a:pt x="107747" y="100068"/>
                </a:cubicBezTo>
                <a:cubicBezTo>
                  <a:pt x="110172" y="96742"/>
                  <a:pt x="114835" y="95996"/>
                  <a:pt x="118161" y="98421"/>
                </a:cubicBezTo>
                <a:cubicBezTo>
                  <a:pt x="121487" y="100846"/>
                  <a:pt x="122233" y="105509"/>
                  <a:pt x="119809" y="108835"/>
                </a:cubicBezTo>
                <a:cubicBezTo>
                  <a:pt x="110762" y="121239"/>
                  <a:pt x="96120" y="129321"/>
                  <a:pt x="79582" y="129321"/>
                </a:cubicBezTo>
                <a:cubicBezTo>
                  <a:pt x="63044" y="129321"/>
                  <a:pt x="48402" y="121239"/>
                  <a:pt x="39356" y="108835"/>
                </a:cubicBezTo>
                <a:cubicBezTo>
                  <a:pt x="36931" y="105509"/>
                  <a:pt x="37677" y="100846"/>
                  <a:pt x="41004" y="98421"/>
                </a:cubicBezTo>
                <a:cubicBezTo>
                  <a:pt x="44330" y="95996"/>
                  <a:pt x="48993" y="96742"/>
                  <a:pt x="51418" y="100068"/>
                </a:cubicBezTo>
                <a:close/>
                <a:moveTo>
                  <a:pt x="44765" y="64661"/>
                </a:moveTo>
                <a:cubicBezTo>
                  <a:pt x="44765" y="59170"/>
                  <a:pt x="49222" y="54713"/>
                  <a:pt x="54713" y="54713"/>
                </a:cubicBezTo>
                <a:cubicBezTo>
                  <a:pt x="60203" y="54713"/>
                  <a:pt x="64661" y="59170"/>
                  <a:pt x="64661" y="64661"/>
                </a:cubicBezTo>
                <a:cubicBezTo>
                  <a:pt x="64661" y="70151"/>
                  <a:pt x="60203" y="74608"/>
                  <a:pt x="54713" y="74608"/>
                </a:cubicBezTo>
                <a:cubicBezTo>
                  <a:pt x="49222" y="74608"/>
                  <a:pt x="44765" y="70151"/>
                  <a:pt x="44765" y="64661"/>
                </a:cubicBezTo>
                <a:close/>
                <a:moveTo>
                  <a:pt x="104452" y="54713"/>
                </a:moveTo>
                <a:cubicBezTo>
                  <a:pt x="109942" y="54713"/>
                  <a:pt x="114399" y="59170"/>
                  <a:pt x="114399" y="64661"/>
                </a:cubicBezTo>
                <a:cubicBezTo>
                  <a:pt x="114399" y="70151"/>
                  <a:pt x="109942" y="74608"/>
                  <a:pt x="104452" y="74608"/>
                </a:cubicBezTo>
                <a:cubicBezTo>
                  <a:pt x="98961" y="74608"/>
                  <a:pt x="94504" y="70151"/>
                  <a:pt x="94504" y="64661"/>
                </a:cubicBezTo>
                <a:cubicBezTo>
                  <a:pt x="94504" y="59170"/>
                  <a:pt x="98961" y="54713"/>
                  <a:pt x="104452" y="54713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51" name="Text 49"/>
          <p:cNvSpPr/>
          <p:nvPr/>
        </p:nvSpPr>
        <p:spPr>
          <a:xfrm>
            <a:off x="4713010" y="5755125"/>
            <a:ext cx="3867697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4.1/5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713010" y="6137120"/>
            <a:ext cx="3780157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Положительная динамика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855680" y="3313274"/>
            <a:ext cx="3021473" cy="3387551"/>
          </a:xfrm>
          <a:custGeom>
            <a:avLst/>
            <a:gdLst/>
            <a:ahLst/>
            <a:cxnLst/>
            <a:rect l="l" t="t" r="r" b="b"/>
            <a:pathLst>
              <a:path w="3021473" h="3387551">
                <a:moveTo>
                  <a:pt x="0" y="0"/>
                </a:moveTo>
                <a:lnTo>
                  <a:pt x="3021473" y="0"/>
                </a:lnTo>
                <a:lnTo>
                  <a:pt x="3021473" y="3387551"/>
                </a:lnTo>
                <a:lnTo>
                  <a:pt x="0" y="3387551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17498" y="3475094"/>
            <a:ext cx="2793337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Дорожная Карта Внедрения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17498" y="3857089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0" y="0"/>
                </a:moveTo>
                <a:lnTo>
                  <a:pt x="318329" y="0"/>
                </a:lnTo>
                <a:lnTo>
                  <a:pt x="318329" y="318329"/>
                </a:lnTo>
                <a:lnTo>
                  <a:pt x="0" y="318329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8985665" y="3857089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431326" y="3857089"/>
            <a:ext cx="203730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Фаза 1: MVP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431326" y="4079919"/>
            <a:ext cx="2029347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Месяцы 1-2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431326" y="4270916"/>
            <a:ext cx="2029347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Энергетика + Коммунальные, 2 района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17498" y="4557413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0" y="0"/>
                </a:moveTo>
                <a:lnTo>
                  <a:pt x="318329" y="0"/>
                </a:lnTo>
                <a:lnTo>
                  <a:pt x="318329" y="318329"/>
                </a:lnTo>
                <a:lnTo>
                  <a:pt x="0" y="318329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61" name="Text 59"/>
          <p:cNvSpPr/>
          <p:nvPr/>
        </p:nvSpPr>
        <p:spPr>
          <a:xfrm>
            <a:off x="8985665" y="4557413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431326" y="4557413"/>
            <a:ext cx="167918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Фаза 2: Расширение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431326" y="4780243"/>
            <a:ext cx="1671227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Месяцы 3-4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431326" y="4971240"/>
            <a:ext cx="1671227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Туризм + Транспорт, 4 района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17498" y="5257736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0" y="0"/>
                </a:moveTo>
                <a:lnTo>
                  <a:pt x="318329" y="0"/>
                </a:lnTo>
                <a:lnTo>
                  <a:pt x="318329" y="318329"/>
                </a:lnTo>
                <a:lnTo>
                  <a:pt x="0" y="318329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66" name="Text 64"/>
          <p:cNvSpPr/>
          <p:nvPr/>
        </p:nvSpPr>
        <p:spPr>
          <a:xfrm>
            <a:off x="8985665" y="5257736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431326" y="5257736"/>
            <a:ext cx="1878141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Фаза 3: Полное Развертывание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431326" y="5480567"/>
            <a:ext cx="1870183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Месяцы 5-6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431326" y="5671564"/>
            <a:ext cx="1870183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Все 6 доменов, 8 районов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17498" y="5960713"/>
            <a:ext cx="2697838" cy="5305"/>
          </a:xfrm>
          <a:custGeom>
            <a:avLst/>
            <a:gdLst/>
            <a:ahLst/>
            <a:cxnLst/>
            <a:rect l="l" t="t" r="r" b="b"/>
            <a:pathLst>
              <a:path w="2697838" h="5305">
                <a:moveTo>
                  <a:pt x="0" y="0"/>
                </a:moveTo>
                <a:lnTo>
                  <a:pt x="2697838" y="0"/>
                </a:lnTo>
                <a:lnTo>
                  <a:pt x="2697838" y="5305"/>
                </a:lnTo>
                <a:lnTo>
                  <a:pt x="0" y="530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957811" y="6090696"/>
            <a:ext cx="867446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8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мес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989644" y="6377192"/>
            <a:ext cx="803781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 к пилоту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271747" y="6090696"/>
            <a:ext cx="1504104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80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мес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303580" y="6377192"/>
            <a:ext cx="1440439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 полного развертывания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КОНКУРЕНТНОЕ ПРЕИМУЩЕСТВО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KIMAK Побеждает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Первая унифицированная ИИ-платформа управления городом в Казахстане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603375"/>
            <a:ext cx="3702050" cy="2397125"/>
          </a:xfrm>
          <a:custGeom>
            <a:avLst/>
            <a:gdLst/>
            <a:ahLst/>
            <a:cxnLst/>
            <a:rect l="l" t="t" r="r" b="b"/>
            <a:pathLst>
              <a:path w="3702050" h="2397125">
                <a:moveTo>
                  <a:pt x="0" y="0"/>
                </a:moveTo>
                <a:lnTo>
                  <a:pt x="3702050" y="0"/>
                </a:lnTo>
                <a:lnTo>
                  <a:pt x="3702050" y="2397125"/>
                </a:lnTo>
                <a:lnTo>
                  <a:pt x="0" y="23971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750" y="17589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7" name="Shape 5"/>
          <p:cNvSpPr/>
          <p:nvPr/>
        </p:nvSpPr>
        <p:spPr>
          <a:xfrm>
            <a:off x="673100" y="18923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1111250" y="1854203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Традиционные Дашборды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" y="23685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10" name="Text 8"/>
          <p:cNvSpPr/>
          <p:nvPr/>
        </p:nvSpPr>
        <p:spPr>
          <a:xfrm>
            <a:off x="806450" y="2330453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Только мониторинг — без ИИ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" y="26733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806450" y="2635253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Реактивный, не предиктивный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" y="29781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14" name="Text 12"/>
          <p:cNvSpPr/>
          <p:nvPr/>
        </p:nvSpPr>
        <p:spPr>
          <a:xfrm>
            <a:off x="806450" y="2940053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 рекомендаций по действиям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" y="32829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16" name="Text 14"/>
          <p:cNvSpPr/>
          <p:nvPr/>
        </p:nvSpPr>
        <p:spPr>
          <a:xfrm>
            <a:off x="806450" y="3244853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Разрозненные по департаментам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4975" y="1603375"/>
            <a:ext cx="3702050" cy="2397125"/>
          </a:xfrm>
          <a:custGeom>
            <a:avLst/>
            <a:gdLst/>
            <a:ahLst/>
            <a:cxnLst/>
            <a:rect l="l" t="t" r="r" b="b"/>
            <a:pathLst>
              <a:path w="3702050" h="2397125">
                <a:moveTo>
                  <a:pt x="0" y="0"/>
                </a:moveTo>
                <a:lnTo>
                  <a:pt x="3702050" y="0"/>
                </a:lnTo>
                <a:lnTo>
                  <a:pt x="3702050" y="2397125"/>
                </a:lnTo>
                <a:lnTo>
                  <a:pt x="0" y="23971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0550" y="17589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33900" y="18923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4972050" y="1854203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Международные Платформы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8650" y="23685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7250" y="233045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Дорогие лицензии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8650" y="26733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7250" y="2635253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 казахского языка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8650" y="29781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4667250" y="2940053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 локального контекста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38650" y="32829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28" name="Text 26"/>
          <p:cNvSpPr/>
          <p:nvPr/>
        </p:nvSpPr>
        <p:spPr>
          <a:xfrm>
            <a:off x="4667250" y="3244853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Универсальные, не локализованные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12125" y="1609725"/>
            <a:ext cx="3686175" cy="2381250"/>
          </a:xfrm>
          <a:custGeom>
            <a:avLst/>
            <a:gdLst/>
            <a:ahLst/>
            <a:cxnLst/>
            <a:rect l="l" t="t" r="r" b="b"/>
            <a:pathLst>
              <a:path w="3686175" h="2381250">
                <a:moveTo>
                  <a:pt x="0" y="0"/>
                </a:moveTo>
                <a:lnTo>
                  <a:pt x="3686175" y="0"/>
                </a:lnTo>
                <a:lnTo>
                  <a:pt x="3686175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405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Shape 29"/>
          <p:cNvSpPr/>
          <p:nvPr/>
        </p:nvSpPr>
        <p:spPr>
          <a:xfrm>
            <a:off x="8407400" y="1924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30"/>
          <p:cNvSpPr/>
          <p:nvPr/>
        </p:nvSpPr>
        <p:spPr>
          <a:xfrm>
            <a:off x="8845550" y="17716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KIMAK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45550" y="2057400"/>
            <a:ext cx="16182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ПЕРВЫЙ В КАЗАХСТАНЕ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02625" y="2419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8540750" y="238125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ИИ-рекомендации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02625" y="27241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5"/>
          <p:cNvSpPr/>
          <p:nvPr/>
        </p:nvSpPr>
        <p:spPr>
          <a:xfrm>
            <a:off x="8540750" y="268605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Предиктивный + проактивный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02625" y="3028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8540750" y="299085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доменов объединены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02625" y="3333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Text 39"/>
          <p:cNvSpPr/>
          <p:nvPr/>
        </p:nvSpPr>
        <p:spPr>
          <a:xfrm>
            <a:off x="8540750" y="3295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Создан для Алматы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02625" y="3638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8540750" y="360045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Казахский и русский языки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4175" y="4156075"/>
            <a:ext cx="5635625" cy="2330450"/>
          </a:xfrm>
          <a:custGeom>
            <a:avLst/>
            <a:gdLst/>
            <a:ahLst/>
            <a:cxnLst/>
            <a:rect l="l" t="t" r="r" b="b"/>
            <a:pathLst>
              <a:path w="5635625" h="2330450">
                <a:moveTo>
                  <a:pt x="0" y="0"/>
                </a:moveTo>
                <a:lnTo>
                  <a:pt x="5635625" y="0"/>
                </a:lnTo>
                <a:lnTo>
                  <a:pt x="5635625" y="2330450"/>
                </a:lnTo>
                <a:lnTo>
                  <a:pt x="0" y="23304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850" y="4349753"/>
            <a:ext cx="536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Уникальные Ценностные Предложения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7850" y="48069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Text 45"/>
          <p:cNvSpPr/>
          <p:nvPr/>
        </p:nvSpPr>
        <p:spPr>
          <a:xfrm>
            <a:off x="539750" y="480695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96950" y="4806953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Собственные ML-модели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96950" y="5035553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 обертки API к иностранным сервисам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77850" y="53403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1" name="Text 49"/>
          <p:cNvSpPr/>
          <p:nvPr/>
        </p:nvSpPr>
        <p:spPr>
          <a:xfrm>
            <a:off x="539750" y="534035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96950" y="5340353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Система приоритетов P1-P6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96950" y="5568953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Уникальный классификационный движок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77850" y="58737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5" name="Text 53"/>
          <p:cNvSpPr/>
          <p:nvPr/>
        </p:nvSpPr>
        <p:spPr>
          <a:xfrm>
            <a:off x="539750" y="587375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96950" y="5873753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Telegram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96950" y="6102353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Встречает диспетчеров там, где они есть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75375" y="4156075"/>
            <a:ext cx="5635625" cy="2330450"/>
          </a:xfrm>
          <a:custGeom>
            <a:avLst/>
            <a:gdLst/>
            <a:ahLst/>
            <a:cxnLst/>
            <a:rect l="l" t="t" r="r" b="b"/>
            <a:pathLst>
              <a:path w="5635625" h="2330450">
                <a:moveTo>
                  <a:pt x="0" y="0"/>
                </a:moveTo>
                <a:lnTo>
                  <a:pt x="5635625" y="0"/>
                </a:lnTo>
                <a:lnTo>
                  <a:pt x="5635625" y="2330450"/>
                </a:lnTo>
                <a:lnTo>
                  <a:pt x="0" y="2330450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10196"/>
            </a:srgbClr>
          </a:solidFill>
          <a:ln w="8467">
            <a:solidFill>
              <a:srgbClr val="A5D6A7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69050" y="4349753"/>
            <a:ext cx="536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Барьеры для Конкуренции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2863" y="48450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61" name="Text 59"/>
          <p:cNvSpPr/>
          <p:nvPr/>
        </p:nvSpPr>
        <p:spPr>
          <a:xfrm>
            <a:off x="6721475" y="4806953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Локальные Знания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21475" y="5035553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Глубокое понимание инфраструктуры Алматы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80956" y="53784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64" name="Text 62"/>
          <p:cNvSpPr/>
          <p:nvPr/>
        </p:nvSpPr>
        <p:spPr>
          <a:xfrm>
            <a:off x="6721475" y="5340353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Языковая Поддержка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21475" y="5568953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Родной казахский и русский языки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404769" y="59118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67" name="Text 65"/>
          <p:cNvSpPr/>
          <p:nvPr/>
        </p:nvSpPr>
        <p:spPr>
          <a:xfrm>
            <a:off x="6721475" y="5873753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721475" y="6102353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 к платформе Smart Data Ulmet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6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ДОРОЖНАЯ КАРТА И ВИДЕНИЕ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 Пилота к Национальному Масштабу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842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Путь KIMAK к трансформации городов Казахстана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438" y="1341438"/>
            <a:ext cx="3754438" cy="2905125"/>
          </a:xfrm>
          <a:custGeom>
            <a:avLst/>
            <a:gdLst/>
            <a:ahLst/>
            <a:cxnLst/>
            <a:rect l="l" t="t" r="r" b="b"/>
            <a:pathLst>
              <a:path w="3754438" h="2905125">
                <a:moveTo>
                  <a:pt x="0" y="0"/>
                </a:moveTo>
                <a:lnTo>
                  <a:pt x="3754438" y="0"/>
                </a:lnTo>
                <a:lnTo>
                  <a:pt x="3754438" y="2905125"/>
                </a:lnTo>
                <a:lnTo>
                  <a:pt x="0" y="290512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0375" y="1476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555750"/>
            <a:ext cx="214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0125" y="149225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Фаза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0125" y="1746250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и Пилот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0375" y="20161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3875" y="20796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Срок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3875" y="22701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Месяцы 1-2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0375" y="25876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3875" y="26511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Домены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875" y="28416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Энергетика + Коммунальные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0375" y="31591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3875" y="32226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Районы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875" y="34131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пилотных района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3195" y="378883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642938" y="3762375"/>
            <a:ext cx="335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Развертывание основных ML-моделей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3195" y="397933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20"/>
          <p:cNvSpPr/>
          <p:nvPr/>
        </p:nvSpPr>
        <p:spPr>
          <a:xfrm>
            <a:off x="642938" y="3952875"/>
            <a:ext cx="335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Обучение диспетчеров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20104" y="1341438"/>
            <a:ext cx="3754438" cy="2905125"/>
          </a:xfrm>
          <a:custGeom>
            <a:avLst/>
            <a:gdLst/>
            <a:ahLst/>
            <a:cxnLst/>
            <a:rect l="l" t="t" r="r" b="b"/>
            <a:pathLst>
              <a:path w="3754438" h="2905125">
                <a:moveTo>
                  <a:pt x="0" y="0"/>
                </a:moveTo>
                <a:lnTo>
                  <a:pt x="3754438" y="0"/>
                </a:lnTo>
                <a:lnTo>
                  <a:pt x="3754438" y="2905125"/>
                </a:lnTo>
                <a:lnTo>
                  <a:pt x="0" y="2905125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20000"/>
            </a:srgbClr>
          </a:solidFill>
          <a:ln w="25400">
            <a:solidFill>
              <a:srgbClr val="A5D6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5042" y="1476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25" name="Text 23"/>
          <p:cNvSpPr/>
          <p:nvPr/>
        </p:nvSpPr>
        <p:spPr>
          <a:xfrm>
            <a:off x="4508087" y="1555750"/>
            <a:ext cx="25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4792" y="1492250"/>
            <a:ext cx="73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Фаза 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4792" y="1746250"/>
            <a:ext cx="69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Расширение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55042" y="20161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418542" y="20796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Срок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18542" y="22701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Месяцы 3-4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55042" y="25876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418542" y="26511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Домены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18542" y="28416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Туризм + Транспорт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55042" y="31591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418542" y="32226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Районы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18542" y="34131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Расширение до 4 районов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77862" y="378883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38" name="Text 36"/>
          <p:cNvSpPr/>
          <p:nvPr/>
        </p:nvSpPr>
        <p:spPr>
          <a:xfrm>
            <a:off x="4537604" y="3762375"/>
            <a:ext cx="335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Расширенная аналитика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77862" y="397933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40" name="Text 38"/>
          <p:cNvSpPr/>
          <p:nvPr/>
        </p:nvSpPr>
        <p:spPr>
          <a:xfrm>
            <a:off x="4537604" y="3952875"/>
            <a:ext cx="335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приложения для граждан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14771" y="1341438"/>
            <a:ext cx="3754438" cy="2905125"/>
          </a:xfrm>
          <a:custGeom>
            <a:avLst/>
            <a:gdLst/>
            <a:ahLst/>
            <a:cxnLst/>
            <a:rect l="l" t="t" r="r" b="b"/>
            <a:pathLst>
              <a:path w="3754438" h="2905125">
                <a:moveTo>
                  <a:pt x="0" y="0"/>
                </a:moveTo>
                <a:lnTo>
                  <a:pt x="3754438" y="0"/>
                </a:lnTo>
                <a:lnTo>
                  <a:pt x="3754438" y="2905125"/>
                </a:lnTo>
                <a:lnTo>
                  <a:pt x="0" y="29051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 w="25400">
            <a:solidFill>
              <a:srgbClr val="5F6B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49709" y="1476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3" name="Text 41"/>
          <p:cNvSpPr/>
          <p:nvPr/>
        </p:nvSpPr>
        <p:spPr>
          <a:xfrm>
            <a:off x="8401679" y="1555750"/>
            <a:ext cx="26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89459" y="1492250"/>
            <a:ext cx="1285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Фаза 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89459" y="1746250"/>
            <a:ext cx="124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Полное Развертывание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49709" y="20161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13209" y="20796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Срок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13209" y="22701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Месяцы 5-6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49709" y="25876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313209" y="26511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Домены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13209" y="28416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Все 6 доменов в работе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49709" y="3159125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0" y="0"/>
                </a:moveTo>
                <a:lnTo>
                  <a:pt x="3484563" y="0"/>
                </a:lnTo>
                <a:lnTo>
                  <a:pt x="348456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313209" y="3222625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Районы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13209" y="341312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Все 8 районов охвачены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72529" y="378883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56" name="Text 54"/>
          <p:cNvSpPr/>
          <p:nvPr/>
        </p:nvSpPr>
        <p:spPr>
          <a:xfrm>
            <a:off x="8432271" y="3762375"/>
            <a:ext cx="335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Предиктивные возможности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72529" y="397933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58" name="Text 56"/>
          <p:cNvSpPr/>
          <p:nvPr/>
        </p:nvSpPr>
        <p:spPr>
          <a:xfrm>
            <a:off x="8432271" y="3952875"/>
            <a:ext cx="335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Национальная интеграция СДУ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20146" y="4384146"/>
            <a:ext cx="11554354" cy="3410479"/>
          </a:xfrm>
          <a:custGeom>
            <a:avLst/>
            <a:gdLst/>
            <a:ahLst/>
            <a:cxnLst/>
            <a:rect l="l" t="t" r="r" b="b"/>
            <a:pathLst>
              <a:path w="11554354" h="3410479">
                <a:moveTo>
                  <a:pt x="0" y="0"/>
                </a:moveTo>
                <a:lnTo>
                  <a:pt x="11554354" y="0"/>
                </a:lnTo>
                <a:lnTo>
                  <a:pt x="11554354" y="3410479"/>
                </a:lnTo>
                <a:lnTo>
                  <a:pt x="0" y="341047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1542" y="4545544"/>
            <a:ext cx="11326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Будущее Расширение и Стратегические Цели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81542" y="4926544"/>
            <a:ext cx="558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Географическое Расширение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81542" y="5275794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0" y="0"/>
                </a:moveTo>
                <a:lnTo>
                  <a:pt x="762000" y="0"/>
                </a:lnTo>
                <a:lnTo>
                  <a:pt x="7620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49010" y="5339294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 2026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338792" y="5244044"/>
            <a:ext cx="944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Астана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338792" y="5434544"/>
            <a:ext cx="936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Пилотный запуск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81542" y="5720294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0" y="0"/>
                </a:moveTo>
                <a:lnTo>
                  <a:pt x="762000" y="0"/>
                </a:lnTo>
                <a:lnTo>
                  <a:pt x="7620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49010" y="5783794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Q4 2026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338792" y="5688544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Шымкент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338792" y="5879044"/>
            <a:ext cx="1182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Региональные центры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81542" y="6164794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0" y="0"/>
                </a:moveTo>
                <a:lnTo>
                  <a:pt x="762000" y="0"/>
                </a:lnTo>
                <a:lnTo>
                  <a:pt x="7620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49010" y="6228294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2027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338792" y="6133044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Топ-3 города Казахстана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338792" y="6323544"/>
            <a:ext cx="151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Полное покрытие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191250" y="4926544"/>
            <a:ext cx="558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Стратегические Цели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91250" y="5244044"/>
            <a:ext cx="5516563" cy="571500"/>
          </a:xfrm>
          <a:custGeom>
            <a:avLst/>
            <a:gdLst/>
            <a:ahLst/>
            <a:cxnLst/>
            <a:rect l="l" t="t" r="r" b="b"/>
            <a:pathLst>
              <a:path w="5516563" h="571500">
                <a:moveTo>
                  <a:pt x="0" y="0"/>
                </a:moveTo>
                <a:lnTo>
                  <a:pt x="5516563" y="0"/>
                </a:lnTo>
                <a:lnTo>
                  <a:pt x="5516563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310313" y="537104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15875" y="59531"/>
                </a:moveTo>
                <a:lnTo>
                  <a:pt x="15875" y="67469"/>
                </a:lnTo>
                <a:cubicBezTo>
                  <a:pt x="15875" y="69652"/>
                  <a:pt x="17661" y="71438"/>
                  <a:pt x="19844" y="71438"/>
                </a:cubicBezTo>
                <a:lnTo>
                  <a:pt x="27781" y="71438"/>
                </a:lnTo>
                <a:cubicBezTo>
                  <a:pt x="29964" y="71438"/>
                  <a:pt x="31750" y="69652"/>
                  <a:pt x="31750" y="67469"/>
                </a:cubicBezTo>
                <a:lnTo>
                  <a:pt x="31750" y="59531"/>
                </a:lnTo>
                <a:cubicBezTo>
                  <a:pt x="31750" y="57348"/>
                  <a:pt x="29964" y="55563"/>
                  <a:pt x="27781" y="55563"/>
                </a:cubicBezTo>
                <a:lnTo>
                  <a:pt x="19844" y="55563"/>
                </a:lnTo>
                <a:cubicBezTo>
                  <a:pt x="17661" y="55563"/>
                  <a:pt x="15875" y="57348"/>
                  <a:pt x="15875" y="59531"/>
                </a:cubicBezTo>
                <a:close/>
                <a:moveTo>
                  <a:pt x="47625" y="59531"/>
                </a:moveTo>
                <a:lnTo>
                  <a:pt x="47625" y="67469"/>
                </a:lnTo>
                <a:cubicBezTo>
                  <a:pt x="47625" y="69652"/>
                  <a:pt x="49411" y="71438"/>
                  <a:pt x="51594" y="71438"/>
                </a:cubicBezTo>
                <a:lnTo>
                  <a:pt x="59531" y="71438"/>
                </a:lnTo>
                <a:cubicBezTo>
                  <a:pt x="61714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1714" y="55563"/>
                  <a:pt x="59531" y="55563"/>
                </a:cubicBezTo>
                <a:lnTo>
                  <a:pt x="51594" y="55563"/>
                </a:lnTo>
                <a:cubicBezTo>
                  <a:pt x="49411" y="55563"/>
                  <a:pt x="47625" y="57348"/>
                  <a:pt x="47625" y="59531"/>
                </a:cubicBezTo>
                <a:close/>
                <a:moveTo>
                  <a:pt x="83344" y="55563"/>
                </a:moveTo>
                <a:cubicBezTo>
                  <a:pt x="81161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81161" y="71438"/>
                  <a:pt x="83344" y="71438"/>
                </a:cubicBezTo>
                <a:lnTo>
                  <a:pt x="91281" y="71438"/>
                </a:lnTo>
                <a:cubicBezTo>
                  <a:pt x="93464" y="71438"/>
                  <a:pt x="95250" y="69652"/>
                  <a:pt x="95250" y="67469"/>
                </a:cubicBezTo>
                <a:lnTo>
                  <a:pt x="95250" y="59531"/>
                </a:lnTo>
                <a:cubicBezTo>
                  <a:pt x="95250" y="57348"/>
                  <a:pt x="93464" y="55563"/>
                  <a:pt x="91281" y="55563"/>
                </a:cubicBezTo>
                <a:lnTo>
                  <a:pt x="83344" y="55563"/>
                </a:lnTo>
                <a:close/>
                <a:moveTo>
                  <a:pt x="15875" y="91281"/>
                </a:move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27781" y="103188"/>
                </a:lnTo>
                <a:cubicBezTo>
                  <a:pt x="29964" y="103188"/>
                  <a:pt x="31750" y="101402"/>
                  <a:pt x="31750" y="99219"/>
                </a:cubicBezTo>
                <a:lnTo>
                  <a:pt x="31750" y="91281"/>
                </a:lnTo>
                <a:cubicBezTo>
                  <a:pt x="31750" y="89098"/>
                  <a:pt x="29964" y="87313"/>
                  <a:pt x="27781" y="87313"/>
                </a:cubicBezTo>
                <a:lnTo>
                  <a:pt x="19844" y="87313"/>
                </a:lnTo>
                <a:cubicBezTo>
                  <a:pt x="17661" y="87313"/>
                  <a:pt x="15875" y="89098"/>
                  <a:pt x="15875" y="91281"/>
                </a:cubicBezTo>
                <a:close/>
                <a:moveTo>
                  <a:pt x="51594" y="87313"/>
                </a:moveTo>
                <a:cubicBezTo>
                  <a:pt x="49411" y="87313"/>
                  <a:pt x="47625" y="89098"/>
                  <a:pt x="47625" y="91281"/>
                </a:cubicBezTo>
                <a:lnTo>
                  <a:pt x="47625" y="99219"/>
                </a:lnTo>
                <a:cubicBezTo>
                  <a:pt x="47625" y="101402"/>
                  <a:pt x="49411" y="103188"/>
                  <a:pt x="51594" y="103188"/>
                </a:cubicBezTo>
                <a:lnTo>
                  <a:pt x="59531" y="103188"/>
                </a:lnTo>
                <a:cubicBezTo>
                  <a:pt x="61714" y="103188"/>
                  <a:pt x="63500" y="101402"/>
                  <a:pt x="63500" y="99219"/>
                </a:cubicBezTo>
                <a:lnTo>
                  <a:pt x="63500" y="91281"/>
                </a:lnTo>
                <a:cubicBezTo>
                  <a:pt x="63500" y="89098"/>
                  <a:pt x="61714" y="87313"/>
                  <a:pt x="59531" y="87313"/>
                </a:cubicBezTo>
                <a:lnTo>
                  <a:pt x="51594" y="87313"/>
                </a:lnTo>
                <a:close/>
                <a:moveTo>
                  <a:pt x="79375" y="91281"/>
                </a:moveTo>
                <a:lnTo>
                  <a:pt x="79375" y="99219"/>
                </a:lnTo>
                <a:cubicBezTo>
                  <a:pt x="79375" y="101402"/>
                  <a:pt x="81161" y="103188"/>
                  <a:pt x="83344" y="103188"/>
                </a:cubicBezTo>
                <a:lnTo>
                  <a:pt x="91281" y="103188"/>
                </a:lnTo>
                <a:cubicBezTo>
                  <a:pt x="93464" y="103188"/>
                  <a:pt x="95250" y="101402"/>
                  <a:pt x="95250" y="99219"/>
                </a:cubicBezTo>
                <a:lnTo>
                  <a:pt x="95250" y="91281"/>
                </a:lnTo>
                <a:cubicBezTo>
                  <a:pt x="95250" y="89098"/>
                  <a:pt x="93464" y="87313"/>
                  <a:pt x="91281" y="87313"/>
                </a:cubicBezTo>
                <a:lnTo>
                  <a:pt x="83344" y="87313"/>
                </a:lnTo>
                <a:cubicBezTo>
                  <a:pt x="81161" y="87313"/>
                  <a:pt x="79375" y="89098"/>
                  <a:pt x="79375" y="9128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7" name="Text 75"/>
          <p:cNvSpPr/>
          <p:nvPr/>
        </p:nvSpPr>
        <p:spPr>
          <a:xfrm>
            <a:off x="6508750" y="5339294"/>
            <a:ext cx="36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286500" y="5561544"/>
            <a:ext cx="5381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Полное развертывание в Алматы + пилот в Астане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91250" y="5910794"/>
            <a:ext cx="5516563" cy="571500"/>
          </a:xfrm>
          <a:custGeom>
            <a:avLst/>
            <a:gdLst/>
            <a:ahLst/>
            <a:cxnLst/>
            <a:rect l="l" t="t" r="r" b="b"/>
            <a:pathLst>
              <a:path w="5516563" h="571500">
                <a:moveTo>
                  <a:pt x="0" y="0"/>
                </a:moveTo>
                <a:lnTo>
                  <a:pt x="5516563" y="0"/>
                </a:lnTo>
                <a:lnTo>
                  <a:pt x="5516563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310313" y="603779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15875" y="59531"/>
                </a:moveTo>
                <a:lnTo>
                  <a:pt x="15875" y="67469"/>
                </a:lnTo>
                <a:cubicBezTo>
                  <a:pt x="15875" y="69652"/>
                  <a:pt x="17661" y="71438"/>
                  <a:pt x="19844" y="71438"/>
                </a:cubicBezTo>
                <a:lnTo>
                  <a:pt x="27781" y="71438"/>
                </a:lnTo>
                <a:cubicBezTo>
                  <a:pt x="29964" y="71438"/>
                  <a:pt x="31750" y="69652"/>
                  <a:pt x="31750" y="67469"/>
                </a:cubicBezTo>
                <a:lnTo>
                  <a:pt x="31750" y="59531"/>
                </a:lnTo>
                <a:cubicBezTo>
                  <a:pt x="31750" y="57348"/>
                  <a:pt x="29964" y="55563"/>
                  <a:pt x="27781" y="55563"/>
                </a:cubicBezTo>
                <a:lnTo>
                  <a:pt x="19844" y="55563"/>
                </a:lnTo>
                <a:cubicBezTo>
                  <a:pt x="17661" y="55563"/>
                  <a:pt x="15875" y="57348"/>
                  <a:pt x="15875" y="59531"/>
                </a:cubicBezTo>
                <a:close/>
                <a:moveTo>
                  <a:pt x="47625" y="59531"/>
                </a:moveTo>
                <a:lnTo>
                  <a:pt x="47625" y="67469"/>
                </a:lnTo>
                <a:cubicBezTo>
                  <a:pt x="47625" y="69652"/>
                  <a:pt x="49411" y="71438"/>
                  <a:pt x="51594" y="71438"/>
                </a:cubicBezTo>
                <a:lnTo>
                  <a:pt x="59531" y="71438"/>
                </a:lnTo>
                <a:cubicBezTo>
                  <a:pt x="61714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1714" y="55563"/>
                  <a:pt x="59531" y="55563"/>
                </a:cubicBezTo>
                <a:lnTo>
                  <a:pt x="51594" y="55563"/>
                </a:lnTo>
                <a:cubicBezTo>
                  <a:pt x="49411" y="55563"/>
                  <a:pt x="47625" y="57348"/>
                  <a:pt x="47625" y="59531"/>
                </a:cubicBezTo>
                <a:close/>
                <a:moveTo>
                  <a:pt x="83344" y="55563"/>
                </a:moveTo>
                <a:cubicBezTo>
                  <a:pt x="81161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81161" y="71438"/>
                  <a:pt x="83344" y="71438"/>
                </a:cubicBezTo>
                <a:lnTo>
                  <a:pt x="91281" y="71438"/>
                </a:lnTo>
                <a:cubicBezTo>
                  <a:pt x="93464" y="71438"/>
                  <a:pt x="95250" y="69652"/>
                  <a:pt x="95250" y="67469"/>
                </a:cubicBezTo>
                <a:lnTo>
                  <a:pt x="95250" y="59531"/>
                </a:lnTo>
                <a:cubicBezTo>
                  <a:pt x="95250" y="57348"/>
                  <a:pt x="93464" y="55563"/>
                  <a:pt x="91281" y="55563"/>
                </a:cubicBezTo>
                <a:lnTo>
                  <a:pt x="83344" y="55563"/>
                </a:lnTo>
                <a:close/>
                <a:moveTo>
                  <a:pt x="15875" y="91281"/>
                </a:move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27781" y="103188"/>
                </a:lnTo>
                <a:cubicBezTo>
                  <a:pt x="29964" y="103188"/>
                  <a:pt x="31750" y="101402"/>
                  <a:pt x="31750" y="99219"/>
                </a:cubicBezTo>
                <a:lnTo>
                  <a:pt x="31750" y="91281"/>
                </a:lnTo>
                <a:cubicBezTo>
                  <a:pt x="31750" y="89098"/>
                  <a:pt x="29964" y="87313"/>
                  <a:pt x="27781" y="87313"/>
                </a:cubicBezTo>
                <a:lnTo>
                  <a:pt x="19844" y="87313"/>
                </a:lnTo>
                <a:cubicBezTo>
                  <a:pt x="17661" y="87313"/>
                  <a:pt x="15875" y="89098"/>
                  <a:pt x="15875" y="91281"/>
                </a:cubicBezTo>
                <a:close/>
                <a:moveTo>
                  <a:pt x="51594" y="87313"/>
                </a:moveTo>
                <a:cubicBezTo>
                  <a:pt x="49411" y="87313"/>
                  <a:pt x="47625" y="89098"/>
                  <a:pt x="47625" y="91281"/>
                </a:cubicBezTo>
                <a:lnTo>
                  <a:pt x="47625" y="99219"/>
                </a:lnTo>
                <a:cubicBezTo>
                  <a:pt x="47625" y="101402"/>
                  <a:pt x="49411" y="103188"/>
                  <a:pt x="51594" y="103188"/>
                </a:cubicBezTo>
                <a:lnTo>
                  <a:pt x="59531" y="103188"/>
                </a:lnTo>
                <a:cubicBezTo>
                  <a:pt x="61714" y="103188"/>
                  <a:pt x="63500" y="101402"/>
                  <a:pt x="63500" y="99219"/>
                </a:cubicBezTo>
                <a:lnTo>
                  <a:pt x="63500" y="91281"/>
                </a:lnTo>
                <a:cubicBezTo>
                  <a:pt x="63500" y="89098"/>
                  <a:pt x="61714" y="87313"/>
                  <a:pt x="59531" y="87313"/>
                </a:cubicBezTo>
                <a:lnTo>
                  <a:pt x="51594" y="87313"/>
                </a:lnTo>
                <a:close/>
                <a:moveTo>
                  <a:pt x="79375" y="91281"/>
                </a:moveTo>
                <a:lnTo>
                  <a:pt x="79375" y="99219"/>
                </a:lnTo>
                <a:cubicBezTo>
                  <a:pt x="79375" y="101402"/>
                  <a:pt x="81161" y="103188"/>
                  <a:pt x="83344" y="103188"/>
                </a:cubicBezTo>
                <a:lnTo>
                  <a:pt x="91281" y="103188"/>
                </a:lnTo>
                <a:cubicBezTo>
                  <a:pt x="93464" y="103188"/>
                  <a:pt x="95250" y="101402"/>
                  <a:pt x="95250" y="99219"/>
                </a:cubicBezTo>
                <a:lnTo>
                  <a:pt x="95250" y="91281"/>
                </a:lnTo>
                <a:cubicBezTo>
                  <a:pt x="95250" y="89098"/>
                  <a:pt x="93464" y="87313"/>
                  <a:pt x="91281" y="87313"/>
                </a:cubicBezTo>
                <a:lnTo>
                  <a:pt x="83344" y="87313"/>
                </a:lnTo>
                <a:cubicBezTo>
                  <a:pt x="81161" y="87313"/>
                  <a:pt x="79375" y="89098"/>
                  <a:pt x="79375" y="91281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81" name="Text 79"/>
          <p:cNvSpPr/>
          <p:nvPr/>
        </p:nvSpPr>
        <p:spPr>
          <a:xfrm>
            <a:off x="6508750" y="6006044"/>
            <a:ext cx="35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2027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286500" y="6228294"/>
            <a:ext cx="5381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Топ-3 города Казахстана охвачены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191250" y="6577544"/>
            <a:ext cx="5516563" cy="571500"/>
          </a:xfrm>
          <a:custGeom>
            <a:avLst/>
            <a:gdLst/>
            <a:ahLst/>
            <a:cxnLst/>
            <a:rect l="l" t="t" r="r" b="b"/>
            <a:pathLst>
              <a:path w="5516563" h="571500">
                <a:moveTo>
                  <a:pt x="0" y="0"/>
                </a:moveTo>
                <a:lnTo>
                  <a:pt x="5516563" y="0"/>
                </a:lnTo>
                <a:lnTo>
                  <a:pt x="5516563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310313" y="670454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15875" y="59531"/>
                </a:moveTo>
                <a:lnTo>
                  <a:pt x="15875" y="67469"/>
                </a:lnTo>
                <a:cubicBezTo>
                  <a:pt x="15875" y="69652"/>
                  <a:pt x="17661" y="71438"/>
                  <a:pt x="19844" y="71438"/>
                </a:cubicBezTo>
                <a:lnTo>
                  <a:pt x="27781" y="71438"/>
                </a:lnTo>
                <a:cubicBezTo>
                  <a:pt x="29964" y="71438"/>
                  <a:pt x="31750" y="69652"/>
                  <a:pt x="31750" y="67469"/>
                </a:cubicBezTo>
                <a:lnTo>
                  <a:pt x="31750" y="59531"/>
                </a:lnTo>
                <a:cubicBezTo>
                  <a:pt x="31750" y="57348"/>
                  <a:pt x="29964" y="55563"/>
                  <a:pt x="27781" y="55563"/>
                </a:cubicBezTo>
                <a:lnTo>
                  <a:pt x="19844" y="55563"/>
                </a:lnTo>
                <a:cubicBezTo>
                  <a:pt x="17661" y="55563"/>
                  <a:pt x="15875" y="57348"/>
                  <a:pt x="15875" y="59531"/>
                </a:cubicBezTo>
                <a:close/>
                <a:moveTo>
                  <a:pt x="47625" y="59531"/>
                </a:moveTo>
                <a:lnTo>
                  <a:pt x="47625" y="67469"/>
                </a:lnTo>
                <a:cubicBezTo>
                  <a:pt x="47625" y="69652"/>
                  <a:pt x="49411" y="71438"/>
                  <a:pt x="51594" y="71438"/>
                </a:cubicBezTo>
                <a:lnTo>
                  <a:pt x="59531" y="71438"/>
                </a:lnTo>
                <a:cubicBezTo>
                  <a:pt x="61714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1714" y="55563"/>
                  <a:pt x="59531" y="55563"/>
                </a:cubicBezTo>
                <a:lnTo>
                  <a:pt x="51594" y="55563"/>
                </a:lnTo>
                <a:cubicBezTo>
                  <a:pt x="49411" y="55563"/>
                  <a:pt x="47625" y="57348"/>
                  <a:pt x="47625" y="59531"/>
                </a:cubicBezTo>
                <a:close/>
                <a:moveTo>
                  <a:pt x="83344" y="55563"/>
                </a:moveTo>
                <a:cubicBezTo>
                  <a:pt x="81161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81161" y="71438"/>
                  <a:pt x="83344" y="71438"/>
                </a:cubicBezTo>
                <a:lnTo>
                  <a:pt x="91281" y="71438"/>
                </a:lnTo>
                <a:cubicBezTo>
                  <a:pt x="93464" y="71438"/>
                  <a:pt x="95250" y="69652"/>
                  <a:pt x="95250" y="67469"/>
                </a:cubicBezTo>
                <a:lnTo>
                  <a:pt x="95250" y="59531"/>
                </a:lnTo>
                <a:cubicBezTo>
                  <a:pt x="95250" y="57348"/>
                  <a:pt x="93464" y="55563"/>
                  <a:pt x="91281" y="55563"/>
                </a:cubicBezTo>
                <a:lnTo>
                  <a:pt x="83344" y="55563"/>
                </a:lnTo>
                <a:close/>
                <a:moveTo>
                  <a:pt x="15875" y="91281"/>
                </a:move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27781" y="103188"/>
                </a:lnTo>
                <a:cubicBezTo>
                  <a:pt x="29964" y="103188"/>
                  <a:pt x="31750" y="101402"/>
                  <a:pt x="31750" y="99219"/>
                </a:cubicBezTo>
                <a:lnTo>
                  <a:pt x="31750" y="91281"/>
                </a:lnTo>
                <a:cubicBezTo>
                  <a:pt x="31750" y="89098"/>
                  <a:pt x="29964" y="87313"/>
                  <a:pt x="27781" y="87313"/>
                </a:cubicBezTo>
                <a:lnTo>
                  <a:pt x="19844" y="87313"/>
                </a:lnTo>
                <a:cubicBezTo>
                  <a:pt x="17661" y="87313"/>
                  <a:pt x="15875" y="89098"/>
                  <a:pt x="15875" y="91281"/>
                </a:cubicBezTo>
                <a:close/>
                <a:moveTo>
                  <a:pt x="51594" y="87313"/>
                </a:moveTo>
                <a:cubicBezTo>
                  <a:pt x="49411" y="87313"/>
                  <a:pt x="47625" y="89098"/>
                  <a:pt x="47625" y="91281"/>
                </a:cubicBezTo>
                <a:lnTo>
                  <a:pt x="47625" y="99219"/>
                </a:lnTo>
                <a:cubicBezTo>
                  <a:pt x="47625" y="101402"/>
                  <a:pt x="49411" y="103188"/>
                  <a:pt x="51594" y="103188"/>
                </a:cubicBezTo>
                <a:lnTo>
                  <a:pt x="59531" y="103188"/>
                </a:lnTo>
                <a:cubicBezTo>
                  <a:pt x="61714" y="103188"/>
                  <a:pt x="63500" y="101402"/>
                  <a:pt x="63500" y="99219"/>
                </a:cubicBezTo>
                <a:lnTo>
                  <a:pt x="63500" y="91281"/>
                </a:lnTo>
                <a:cubicBezTo>
                  <a:pt x="63500" y="89098"/>
                  <a:pt x="61714" y="87313"/>
                  <a:pt x="59531" y="87313"/>
                </a:cubicBezTo>
                <a:lnTo>
                  <a:pt x="51594" y="87313"/>
                </a:lnTo>
                <a:close/>
                <a:moveTo>
                  <a:pt x="79375" y="91281"/>
                </a:moveTo>
                <a:lnTo>
                  <a:pt x="79375" y="99219"/>
                </a:lnTo>
                <a:cubicBezTo>
                  <a:pt x="79375" y="101402"/>
                  <a:pt x="81161" y="103188"/>
                  <a:pt x="83344" y="103188"/>
                </a:cubicBezTo>
                <a:lnTo>
                  <a:pt x="91281" y="103188"/>
                </a:lnTo>
                <a:cubicBezTo>
                  <a:pt x="93464" y="103188"/>
                  <a:pt x="95250" y="101402"/>
                  <a:pt x="95250" y="99219"/>
                </a:cubicBezTo>
                <a:lnTo>
                  <a:pt x="95250" y="91281"/>
                </a:lnTo>
                <a:cubicBezTo>
                  <a:pt x="95250" y="89098"/>
                  <a:pt x="93464" y="87313"/>
                  <a:pt x="91281" y="87313"/>
                </a:cubicBezTo>
                <a:lnTo>
                  <a:pt x="83344" y="87313"/>
                </a:lnTo>
                <a:cubicBezTo>
                  <a:pt x="81161" y="87313"/>
                  <a:pt x="79375" y="89098"/>
                  <a:pt x="79375" y="91281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85" name="Text 83"/>
          <p:cNvSpPr/>
          <p:nvPr/>
        </p:nvSpPr>
        <p:spPr>
          <a:xfrm>
            <a:off x="6508750" y="6672794"/>
            <a:ext cx="37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2028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286500" y="6895044"/>
            <a:ext cx="5381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Национальная интеграция Smart Data Ulmet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481542" y="7278690"/>
            <a:ext cx="11231563" cy="5292"/>
          </a:xfrm>
          <a:custGeom>
            <a:avLst/>
            <a:gdLst/>
            <a:ahLst/>
            <a:cxnLst/>
            <a:rect l="l" t="t" r="r" b="b"/>
            <a:pathLst>
              <a:path w="11231563" h="5292">
                <a:moveTo>
                  <a:pt x="0" y="0"/>
                </a:moveTo>
                <a:lnTo>
                  <a:pt x="11231563" y="0"/>
                </a:lnTo>
                <a:lnTo>
                  <a:pt x="11231563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45823" y="7408335"/>
            <a:ext cx="1130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Видение:</a:t>
            </a:r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Стандарт Казахстана для ИИ умных городов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d370d047710880d1bb9807e36ee34a424e943f1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5625" b="5625"/>
          <a:stretch/>
        </p:blipFill>
        <p:spPr>
          <a:xfrm>
            <a:off x="0" y="0"/>
            <a:ext cx="12192000" cy="685740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7409"/>
          </a:xfrm>
          <a:custGeom>
            <a:avLst/>
            <a:gdLst/>
            <a:ahLst/>
            <a:cxnLst/>
            <a:rect l="l" t="t" r="r" b="b"/>
            <a:pathLst>
              <a:path w="12192000" h="6857409">
                <a:moveTo>
                  <a:pt x="0" y="0"/>
                </a:moveTo>
                <a:lnTo>
                  <a:pt x="12192000" y="0"/>
                </a:lnTo>
                <a:lnTo>
                  <a:pt x="12192000" y="6857409"/>
                </a:lnTo>
                <a:lnTo>
                  <a:pt x="0" y="685740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DB6A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8340" y="378340"/>
            <a:ext cx="75668" cy="454008"/>
          </a:xfrm>
          <a:custGeom>
            <a:avLst/>
            <a:gdLst/>
            <a:ahLst/>
            <a:cxnLst/>
            <a:rect l="l" t="t" r="r" b="b"/>
            <a:pathLst>
              <a:path w="75668" h="454008">
                <a:moveTo>
                  <a:pt x="0" y="0"/>
                </a:moveTo>
                <a:lnTo>
                  <a:pt x="75668" y="0"/>
                </a:lnTo>
                <a:lnTo>
                  <a:pt x="75668" y="454008"/>
                </a:lnTo>
                <a:lnTo>
                  <a:pt x="0" y="454008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" name="Text 2"/>
          <p:cNvSpPr/>
          <p:nvPr/>
        </p:nvSpPr>
        <p:spPr>
          <a:xfrm>
            <a:off x="567510" y="510759"/>
            <a:ext cx="2969967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spc="31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TALENTS HACKATHON 2026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318848" y="926933"/>
            <a:ext cx="908016" cy="908016"/>
          </a:xfrm>
          <a:custGeom>
            <a:avLst/>
            <a:gdLst/>
            <a:ahLst/>
            <a:cxnLst/>
            <a:rect l="l" t="t" r="r" b="b"/>
            <a:pathLst>
              <a:path w="908016" h="908016">
                <a:moveTo>
                  <a:pt x="0" y="0"/>
                </a:moveTo>
                <a:lnTo>
                  <a:pt x="908016" y="0"/>
                </a:lnTo>
                <a:lnTo>
                  <a:pt x="908016" y="908016"/>
                </a:lnTo>
                <a:lnTo>
                  <a:pt x="0" y="908016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4"/>
          <p:cNvSpPr/>
          <p:nvPr/>
        </p:nvSpPr>
        <p:spPr>
          <a:xfrm>
            <a:off x="3545852" y="1153936"/>
            <a:ext cx="454008" cy="454008"/>
          </a:xfrm>
          <a:custGeom>
            <a:avLst/>
            <a:gdLst/>
            <a:ahLst/>
            <a:cxnLst/>
            <a:rect l="l" t="t" r="r" b="b"/>
            <a:pathLst>
              <a:path w="454008" h="454008">
                <a:moveTo>
                  <a:pt x="106408" y="49657"/>
                </a:moveTo>
                <a:cubicBezTo>
                  <a:pt x="106408" y="22257"/>
                  <a:pt x="128665" y="0"/>
                  <a:pt x="156065" y="0"/>
                </a:cubicBezTo>
                <a:lnTo>
                  <a:pt x="177347" y="0"/>
                </a:lnTo>
                <a:cubicBezTo>
                  <a:pt x="193042" y="0"/>
                  <a:pt x="205722" y="12680"/>
                  <a:pt x="205722" y="28375"/>
                </a:cubicBezTo>
                <a:lnTo>
                  <a:pt x="205722" y="425632"/>
                </a:lnTo>
                <a:cubicBezTo>
                  <a:pt x="205722" y="441327"/>
                  <a:pt x="193042" y="454008"/>
                  <a:pt x="177347" y="454008"/>
                </a:cubicBezTo>
                <a:lnTo>
                  <a:pt x="148971" y="454008"/>
                </a:lnTo>
                <a:cubicBezTo>
                  <a:pt x="122547" y="454008"/>
                  <a:pt x="100290" y="435918"/>
                  <a:pt x="93994" y="411445"/>
                </a:cubicBezTo>
                <a:cubicBezTo>
                  <a:pt x="93373" y="411445"/>
                  <a:pt x="92841" y="411445"/>
                  <a:pt x="92220" y="411445"/>
                </a:cubicBezTo>
                <a:cubicBezTo>
                  <a:pt x="53027" y="411445"/>
                  <a:pt x="21282" y="379699"/>
                  <a:pt x="21282" y="340506"/>
                </a:cubicBezTo>
                <a:cubicBezTo>
                  <a:pt x="21282" y="324545"/>
                  <a:pt x="26602" y="309825"/>
                  <a:pt x="35469" y="297943"/>
                </a:cubicBezTo>
                <a:cubicBezTo>
                  <a:pt x="18267" y="284996"/>
                  <a:pt x="7094" y="264424"/>
                  <a:pt x="7094" y="241192"/>
                </a:cubicBezTo>
                <a:cubicBezTo>
                  <a:pt x="7094" y="213792"/>
                  <a:pt x="22700" y="189938"/>
                  <a:pt x="45401" y="178145"/>
                </a:cubicBezTo>
                <a:cubicBezTo>
                  <a:pt x="39105" y="167504"/>
                  <a:pt x="35469" y="155090"/>
                  <a:pt x="35469" y="141877"/>
                </a:cubicBezTo>
                <a:cubicBezTo>
                  <a:pt x="35469" y="102684"/>
                  <a:pt x="67214" y="70939"/>
                  <a:pt x="106408" y="70939"/>
                </a:cubicBezTo>
                <a:lnTo>
                  <a:pt x="106408" y="49657"/>
                </a:lnTo>
                <a:close/>
                <a:moveTo>
                  <a:pt x="347600" y="49657"/>
                </a:moveTo>
                <a:lnTo>
                  <a:pt x="347600" y="70939"/>
                </a:lnTo>
                <a:cubicBezTo>
                  <a:pt x="386793" y="70939"/>
                  <a:pt x="418538" y="102684"/>
                  <a:pt x="418538" y="141877"/>
                </a:cubicBezTo>
                <a:cubicBezTo>
                  <a:pt x="418538" y="155178"/>
                  <a:pt x="414903" y="167593"/>
                  <a:pt x="408607" y="178145"/>
                </a:cubicBezTo>
                <a:cubicBezTo>
                  <a:pt x="431396" y="189938"/>
                  <a:pt x="446914" y="213703"/>
                  <a:pt x="446914" y="241192"/>
                </a:cubicBezTo>
                <a:cubicBezTo>
                  <a:pt x="446914" y="264424"/>
                  <a:pt x="435741" y="284996"/>
                  <a:pt x="418538" y="297943"/>
                </a:cubicBezTo>
                <a:cubicBezTo>
                  <a:pt x="427406" y="309825"/>
                  <a:pt x="432726" y="324545"/>
                  <a:pt x="432726" y="340506"/>
                </a:cubicBezTo>
                <a:cubicBezTo>
                  <a:pt x="432726" y="379699"/>
                  <a:pt x="400981" y="411445"/>
                  <a:pt x="361787" y="411445"/>
                </a:cubicBezTo>
                <a:cubicBezTo>
                  <a:pt x="361167" y="411445"/>
                  <a:pt x="360635" y="411445"/>
                  <a:pt x="360014" y="411445"/>
                </a:cubicBezTo>
                <a:cubicBezTo>
                  <a:pt x="353718" y="435918"/>
                  <a:pt x="331461" y="454008"/>
                  <a:pt x="305036" y="454008"/>
                </a:cubicBezTo>
                <a:lnTo>
                  <a:pt x="276661" y="454008"/>
                </a:lnTo>
                <a:cubicBezTo>
                  <a:pt x="260966" y="454008"/>
                  <a:pt x="248285" y="441327"/>
                  <a:pt x="248285" y="425632"/>
                </a:cubicBezTo>
                <a:lnTo>
                  <a:pt x="248285" y="28375"/>
                </a:lnTo>
                <a:cubicBezTo>
                  <a:pt x="248285" y="12680"/>
                  <a:pt x="260966" y="0"/>
                  <a:pt x="276661" y="0"/>
                </a:cubicBezTo>
                <a:lnTo>
                  <a:pt x="297943" y="0"/>
                </a:lnTo>
                <a:cubicBezTo>
                  <a:pt x="325343" y="0"/>
                  <a:pt x="347600" y="22257"/>
                  <a:pt x="347600" y="4965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5"/>
          <p:cNvSpPr/>
          <p:nvPr/>
        </p:nvSpPr>
        <p:spPr>
          <a:xfrm>
            <a:off x="4453868" y="832348"/>
            <a:ext cx="4757623" cy="6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362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KIMAK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53868" y="1589027"/>
            <a:ext cx="4558995" cy="3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4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 Трансформировать Алматы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87393" y="2232205"/>
            <a:ext cx="1816031" cy="37834"/>
          </a:xfrm>
          <a:custGeom>
            <a:avLst/>
            <a:gdLst/>
            <a:ahLst/>
            <a:cxnLst/>
            <a:rect l="l" t="t" r="r" b="b"/>
            <a:pathLst>
              <a:path w="1816031" h="37834">
                <a:moveTo>
                  <a:pt x="0" y="0"/>
                </a:moveTo>
                <a:lnTo>
                  <a:pt x="1816031" y="0"/>
                </a:lnTo>
                <a:lnTo>
                  <a:pt x="1816031" y="37834"/>
                </a:lnTo>
                <a:lnTo>
                  <a:pt x="0" y="37834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8"/>
          <p:cNvSpPr/>
          <p:nvPr/>
        </p:nvSpPr>
        <p:spPr>
          <a:xfrm>
            <a:off x="1181721" y="2572711"/>
            <a:ext cx="9827376" cy="3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4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 Хаоса к Ясности за 5 Секунд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55812" y="3067705"/>
            <a:ext cx="3023566" cy="1368329"/>
          </a:xfrm>
          <a:custGeom>
            <a:avLst/>
            <a:gdLst/>
            <a:ahLst/>
            <a:cxnLst/>
            <a:rect l="l" t="t" r="r" b="b"/>
            <a:pathLst>
              <a:path w="3023566" h="1368329">
                <a:moveTo>
                  <a:pt x="0" y="0"/>
                </a:moveTo>
                <a:lnTo>
                  <a:pt x="3023566" y="0"/>
                </a:lnTo>
                <a:lnTo>
                  <a:pt x="3023566" y="1368329"/>
                </a:lnTo>
                <a:lnTo>
                  <a:pt x="0" y="136832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44092" y="3297865"/>
            <a:ext cx="2847007" cy="56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6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38677" y="3941043"/>
            <a:ext cx="265783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Доменов Объединены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85202" y="3067705"/>
            <a:ext cx="3023566" cy="1368329"/>
          </a:xfrm>
          <a:custGeom>
            <a:avLst/>
            <a:gdLst/>
            <a:ahLst/>
            <a:cxnLst/>
            <a:rect l="l" t="t" r="r" b="b"/>
            <a:pathLst>
              <a:path w="3023566" h="1368329">
                <a:moveTo>
                  <a:pt x="0" y="0"/>
                </a:moveTo>
                <a:lnTo>
                  <a:pt x="3023566" y="0"/>
                </a:lnTo>
                <a:lnTo>
                  <a:pt x="3023566" y="1368329"/>
                </a:lnTo>
                <a:lnTo>
                  <a:pt x="0" y="136832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73482" y="3297865"/>
            <a:ext cx="2847007" cy="56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6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68067" y="3941043"/>
            <a:ext cx="265783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Районов Охвачено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14593" y="3067705"/>
            <a:ext cx="3023566" cy="1368329"/>
          </a:xfrm>
          <a:custGeom>
            <a:avLst/>
            <a:gdLst/>
            <a:ahLst/>
            <a:cxnLst/>
            <a:rect l="l" t="t" r="r" b="b"/>
            <a:pathLst>
              <a:path w="3023566" h="1368329">
                <a:moveTo>
                  <a:pt x="0" y="0"/>
                </a:moveTo>
                <a:lnTo>
                  <a:pt x="3023566" y="0"/>
                </a:lnTo>
                <a:lnTo>
                  <a:pt x="3023566" y="1368329"/>
                </a:lnTo>
                <a:lnTo>
                  <a:pt x="0" y="136832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2872" y="3297865"/>
            <a:ext cx="2847007" cy="56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6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5с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97457" y="3941043"/>
            <a:ext cx="265783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Ответа ИИ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55812" y="4820681"/>
            <a:ext cx="9682346" cy="1075116"/>
          </a:xfrm>
          <a:custGeom>
            <a:avLst/>
            <a:gdLst/>
            <a:ahLst/>
            <a:cxnLst/>
            <a:rect l="l" t="t" r="r" b="b"/>
            <a:pathLst>
              <a:path w="9682346" h="1075116">
                <a:moveTo>
                  <a:pt x="0" y="0"/>
                </a:moveTo>
                <a:lnTo>
                  <a:pt x="9682346" y="0"/>
                </a:lnTo>
                <a:lnTo>
                  <a:pt x="9682346" y="1075116"/>
                </a:lnTo>
                <a:lnTo>
                  <a:pt x="0" y="1075116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38677" y="5050836"/>
            <a:ext cx="9316618" cy="614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9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KIMAK — это не просто дашборд, это </a:t>
            </a:r>
            <a:pPr algn="ctr">
              <a:lnSpc>
                <a:spcPct val="140000"/>
              </a:lnSpc>
            </a:pPr>
            <a:r>
              <a:rPr lang="en-US" sz="149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ИИ-мозг города</a:t>
            </a:r>
            <a:pPr algn="ctr">
              <a:lnSpc>
                <a:spcPct val="140000"/>
              </a:lnSpc>
            </a:pPr>
            <a:r>
              <a:rPr lang="en-US" sz="149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который превращает городской хаос в </a:t>
            </a:r>
            <a:pPr algn="ctr">
              <a:lnSpc>
                <a:spcPct val="140000"/>
              </a:lnSpc>
            </a:pPr>
            <a:r>
              <a:rPr lang="en-US" sz="1490" b="1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структурированную, действенную информацию</a:t>
            </a:r>
            <a:pPr algn="ctr">
              <a:lnSpc>
                <a:spcPct val="140000"/>
              </a:lnSpc>
            </a:pPr>
            <a:r>
              <a:rPr lang="en-US" sz="149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Готов к пилотному развертыванию в Алматы.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598366" y="6239457"/>
            <a:ext cx="189170" cy="189170"/>
          </a:xfrm>
          <a:custGeom>
            <a:avLst/>
            <a:gdLst/>
            <a:ahLst/>
            <a:cxnLst/>
            <a:rect l="l" t="t" r="r" b="b"/>
            <a:pathLst>
              <a:path w="189170" h="189170">
                <a:moveTo>
                  <a:pt x="17735" y="23646"/>
                </a:moveTo>
                <a:cubicBezTo>
                  <a:pt x="7944" y="23646"/>
                  <a:pt x="0" y="31590"/>
                  <a:pt x="0" y="41381"/>
                </a:cubicBezTo>
                <a:cubicBezTo>
                  <a:pt x="0" y="46960"/>
                  <a:pt x="2623" y="52206"/>
                  <a:pt x="7094" y="55569"/>
                </a:cubicBezTo>
                <a:lnTo>
                  <a:pt x="83944" y="113206"/>
                </a:lnTo>
                <a:cubicBezTo>
                  <a:pt x="90262" y="117936"/>
                  <a:pt x="98908" y="117936"/>
                  <a:pt x="105226" y="113206"/>
                </a:cubicBezTo>
                <a:lnTo>
                  <a:pt x="182076" y="55569"/>
                </a:lnTo>
                <a:cubicBezTo>
                  <a:pt x="186547" y="52206"/>
                  <a:pt x="189170" y="46960"/>
                  <a:pt x="189170" y="41381"/>
                </a:cubicBezTo>
                <a:cubicBezTo>
                  <a:pt x="189170" y="31590"/>
                  <a:pt x="181226" y="23646"/>
                  <a:pt x="171435" y="23646"/>
                </a:cubicBezTo>
                <a:lnTo>
                  <a:pt x="17735" y="23646"/>
                </a:lnTo>
                <a:close/>
                <a:moveTo>
                  <a:pt x="0" y="72417"/>
                </a:moveTo>
                <a:lnTo>
                  <a:pt x="0" y="141877"/>
                </a:lnTo>
                <a:cubicBezTo>
                  <a:pt x="0" y="154920"/>
                  <a:pt x="10604" y="165524"/>
                  <a:pt x="23646" y="165524"/>
                </a:cubicBezTo>
                <a:lnTo>
                  <a:pt x="165524" y="165524"/>
                </a:lnTo>
                <a:cubicBezTo>
                  <a:pt x="178566" y="165524"/>
                  <a:pt x="189170" y="154920"/>
                  <a:pt x="189170" y="141877"/>
                </a:cubicBezTo>
                <a:lnTo>
                  <a:pt x="189170" y="72417"/>
                </a:lnTo>
                <a:lnTo>
                  <a:pt x="115867" y="127394"/>
                </a:lnTo>
                <a:cubicBezTo>
                  <a:pt x="103268" y="136853"/>
                  <a:pt x="85902" y="136853"/>
                  <a:pt x="73303" y="127394"/>
                </a:cubicBezTo>
                <a:lnTo>
                  <a:pt x="0" y="7241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1"/>
          <p:cNvSpPr/>
          <p:nvPr/>
        </p:nvSpPr>
        <p:spPr>
          <a:xfrm>
            <a:off x="3882121" y="6201623"/>
            <a:ext cx="1863324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aitalentsalmaty@aitk.kz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02306" y="6239457"/>
            <a:ext cx="189170" cy="189170"/>
          </a:xfrm>
          <a:custGeom>
            <a:avLst/>
            <a:gdLst/>
            <a:ahLst/>
            <a:cxnLst/>
            <a:rect l="l" t="t" r="r" b="b"/>
            <a:pathLst>
              <a:path w="189170" h="189170">
                <a:moveTo>
                  <a:pt x="130017" y="103452"/>
                </a:moveTo>
                <a:lnTo>
                  <a:pt x="59485" y="103452"/>
                </a:lnTo>
                <a:cubicBezTo>
                  <a:pt x="60557" y="127283"/>
                  <a:pt x="65840" y="149230"/>
                  <a:pt x="73340" y="165302"/>
                </a:cubicBezTo>
                <a:cubicBezTo>
                  <a:pt x="77552" y="174354"/>
                  <a:pt x="82097" y="180746"/>
                  <a:pt x="86309" y="184662"/>
                </a:cubicBezTo>
                <a:cubicBezTo>
                  <a:pt x="90447" y="188542"/>
                  <a:pt x="93292" y="189170"/>
                  <a:pt x="94770" y="189170"/>
                </a:cubicBezTo>
                <a:cubicBezTo>
                  <a:pt x="96248" y="189170"/>
                  <a:pt x="99093" y="188542"/>
                  <a:pt x="103231" y="184662"/>
                </a:cubicBezTo>
                <a:cubicBezTo>
                  <a:pt x="107443" y="180746"/>
                  <a:pt x="111987" y="174317"/>
                  <a:pt x="116199" y="165302"/>
                </a:cubicBezTo>
                <a:cubicBezTo>
                  <a:pt x="123699" y="149230"/>
                  <a:pt x="128983" y="127283"/>
                  <a:pt x="130054" y="103452"/>
                </a:cubicBezTo>
                <a:close/>
                <a:moveTo>
                  <a:pt x="59448" y="85718"/>
                </a:moveTo>
                <a:lnTo>
                  <a:pt x="129980" y="85718"/>
                </a:lnTo>
                <a:cubicBezTo>
                  <a:pt x="128946" y="61887"/>
                  <a:pt x="123662" y="39940"/>
                  <a:pt x="116162" y="23868"/>
                </a:cubicBezTo>
                <a:cubicBezTo>
                  <a:pt x="111950" y="14853"/>
                  <a:pt x="107406" y="8424"/>
                  <a:pt x="103194" y="4508"/>
                </a:cubicBezTo>
                <a:cubicBezTo>
                  <a:pt x="99056" y="628"/>
                  <a:pt x="96211" y="0"/>
                  <a:pt x="94733" y="0"/>
                </a:cubicBezTo>
                <a:cubicBezTo>
                  <a:pt x="93255" y="0"/>
                  <a:pt x="90410" y="628"/>
                  <a:pt x="86272" y="4508"/>
                </a:cubicBezTo>
                <a:cubicBezTo>
                  <a:pt x="82060" y="8424"/>
                  <a:pt x="77515" y="14853"/>
                  <a:pt x="73303" y="23868"/>
                </a:cubicBezTo>
                <a:cubicBezTo>
                  <a:pt x="65803" y="39940"/>
                  <a:pt x="60520" y="61887"/>
                  <a:pt x="59448" y="85718"/>
                </a:cubicBezTo>
                <a:close/>
                <a:moveTo>
                  <a:pt x="41713" y="85718"/>
                </a:moveTo>
                <a:cubicBezTo>
                  <a:pt x="43007" y="54091"/>
                  <a:pt x="51172" y="24718"/>
                  <a:pt x="63106" y="5431"/>
                </a:cubicBezTo>
                <a:cubicBezTo>
                  <a:pt x="29077" y="17476"/>
                  <a:pt x="4027" y="48475"/>
                  <a:pt x="554" y="85718"/>
                </a:cubicBezTo>
                <a:lnTo>
                  <a:pt x="41713" y="85718"/>
                </a:lnTo>
                <a:close/>
                <a:moveTo>
                  <a:pt x="554" y="103452"/>
                </a:moveTo>
                <a:cubicBezTo>
                  <a:pt x="4027" y="140695"/>
                  <a:pt x="29077" y="171694"/>
                  <a:pt x="63106" y="183739"/>
                </a:cubicBezTo>
                <a:cubicBezTo>
                  <a:pt x="51172" y="164452"/>
                  <a:pt x="43007" y="135079"/>
                  <a:pt x="41713" y="103452"/>
                </a:cubicBezTo>
                <a:lnTo>
                  <a:pt x="554" y="103452"/>
                </a:lnTo>
                <a:close/>
                <a:moveTo>
                  <a:pt x="147752" y="103452"/>
                </a:moveTo>
                <a:cubicBezTo>
                  <a:pt x="146459" y="135079"/>
                  <a:pt x="138294" y="164452"/>
                  <a:pt x="126360" y="183739"/>
                </a:cubicBezTo>
                <a:cubicBezTo>
                  <a:pt x="160388" y="171657"/>
                  <a:pt x="185438" y="140695"/>
                  <a:pt x="188911" y="103452"/>
                </a:cubicBezTo>
                <a:lnTo>
                  <a:pt x="147752" y="103452"/>
                </a:lnTo>
                <a:close/>
                <a:moveTo>
                  <a:pt x="188911" y="85718"/>
                </a:moveTo>
                <a:cubicBezTo>
                  <a:pt x="185438" y="48475"/>
                  <a:pt x="160388" y="17476"/>
                  <a:pt x="126360" y="5431"/>
                </a:cubicBezTo>
                <a:cubicBezTo>
                  <a:pt x="138294" y="24718"/>
                  <a:pt x="146459" y="54091"/>
                  <a:pt x="147752" y="85718"/>
                </a:cubicBezTo>
                <a:lnTo>
                  <a:pt x="188911" y="8571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6" name="Text 23"/>
          <p:cNvSpPr/>
          <p:nvPr/>
        </p:nvSpPr>
        <p:spPr>
          <a:xfrm>
            <a:off x="6386061" y="6201623"/>
            <a:ext cx="2270039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alikhan-mak.github.io/KIMAK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524078" y="6469614"/>
            <a:ext cx="1642625" cy="384645"/>
          </a:xfrm>
          <a:custGeom>
            <a:avLst/>
            <a:gdLst/>
            <a:ahLst/>
            <a:cxnLst/>
            <a:rect l="l" t="t" r="r" b="b"/>
            <a:pathLst>
              <a:path w="1642625" h="384645">
                <a:moveTo>
                  <a:pt x="0" y="0"/>
                </a:moveTo>
                <a:lnTo>
                  <a:pt x="1642625" y="0"/>
                </a:lnTo>
                <a:lnTo>
                  <a:pt x="1642625" y="384645"/>
                </a:lnTo>
                <a:lnTo>
                  <a:pt x="0" y="38464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20925" y="6466461"/>
            <a:ext cx="1711988" cy="378340"/>
          </a:xfrm>
          <a:prstGeom prst="rect">
            <a:avLst/>
          </a:prstGeom>
          <a:noFill/>
          <a:ln/>
        </p:spPr>
        <p:txBody>
          <a:bodyPr wrap="square" lIns="189170" tIns="75668" rIns="189170" bIns="75668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#SmartCityAlmaty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472134" y="6469614"/>
            <a:ext cx="1491289" cy="384645"/>
          </a:xfrm>
          <a:custGeom>
            <a:avLst/>
            <a:gdLst/>
            <a:ahLst/>
            <a:cxnLst/>
            <a:rect l="l" t="t" r="r" b="b"/>
            <a:pathLst>
              <a:path w="1491289" h="384645">
                <a:moveTo>
                  <a:pt x="0" y="0"/>
                </a:moveTo>
                <a:lnTo>
                  <a:pt x="1491289" y="0"/>
                </a:lnTo>
                <a:lnTo>
                  <a:pt x="1491289" y="384645"/>
                </a:lnTo>
                <a:lnTo>
                  <a:pt x="0" y="38464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68981" y="6466461"/>
            <a:ext cx="1560652" cy="378340"/>
          </a:xfrm>
          <a:prstGeom prst="rect">
            <a:avLst/>
          </a:prstGeom>
          <a:noFill/>
          <a:ln/>
        </p:spPr>
        <p:txBody>
          <a:bodyPr wrap="square" lIns="189170" tIns="75668" rIns="189170" bIns="75668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#AITalents2026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270824" y="6469614"/>
            <a:ext cx="1396704" cy="384645"/>
          </a:xfrm>
          <a:custGeom>
            <a:avLst/>
            <a:gdLst/>
            <a:ahLst/>
            <a:cxnLst/>
            <a:rect l="l" t="t" r="r" b="b"/>
            <a:pathLst>
              <a:path w="1396704" h="384645">
                <a:moveTo>
                  <a:pt x="0" y="0"/>
                </a:moveTo>
                <a:lnTo>
                  <a:pt x="1396704" y="0"/>
                </a:lnTo>
                <a:lnTo>
                  <a:pt x="1396704" y="384645"/>
                </a:lnTo>
                <a:lnTo>
                  <a:pt x="0" y="38464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67671" y="6466461"/>
            <a:ext cx="1466067" cy="378340"/>
          </a:xfrm>
          <a:prstGeom prst="rect">
            <a:avLst/>
          </a:prstGeom>
          <a:noFill/>
          <a:ln/>
        </p:spPr>
        <p:txBody>
          <a:bodyPr wrap="square" lIns="189170" tIns="75668" rIns="189170" bIns="75668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#KazakhstanAI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KIMAK — Умный Город Алматы</dc:title>
  <dc:subject>KIMAK — Умный Город Алматы</dc:subject>
  <dc:creator>Kimi</dc:creator>
  <cp:lastModifiedBy>Kimi</cp:lastModifiedBy>
  <cp:revision>1</cp:revision>
  <dcterms:created xsi:type="dcterms:W3CDTF">2026-04-03T20:06:55Z</dcterms:created>
  <dcterms:modified xsi:type="dcterms:W3CDTF">2026-04-03T20:06:55Z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{"Label":"KIMAK — Умный Город Алматы","ContentProducer":"001191110108MACG2KBH8F10000","ProduceID":"19d54f29-15f2-8104-8000-0000667771e3","ReservedCode1":"","ContentPropagator":"001191110108MACG2KBH8F20000","PropagateID":"19d54f29-15f2-8104-8000-0000667771e3","ReservedCode2":""}</vt:lpwstr>
  </property>
</Properties>
</file>